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7665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Vraj. This is a walkthrough of my take-home: a case review tool for insurance fraud investigators.
I want to show you one thing above all: what an investigator's Monday morning looks like with this tool versus without it. So I'll start with the problem, spend most of the time in the live app working real cases from the sample data, and then briefly cover how it's built, the trade-offs, and what I'd do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 was given. An insurance company's fraud engine produces a queue of suspicious claims every day. An investigator opens a legacy tool, pastes each claim number, pulls the data by hand, and reads through the signals to decide: is this real, a false positive, or does it need more digging. Fifty times.
Before I built anything I looked at what is actually in the sample queue, and it is not evenly hard. Twenty-eight of the fifty cases have no signal triggered at all. Eight have every single one of the ten signals firing. Only fourteen are in the middle where a person genuinely has to think.
Today all fifty cost the same ten minutes. The investigator spends most of the morning proving that the twenty-eight are nothing. And because it is manual, two investigators can reach different conclusions on the same file, and nothing gets written down about why.
So the job is not to detect fraud from scratch. The engine already did that. The job is to let the investigator skip the twenty-eight, confirm the eight quickly, and spend real attention on the fourteen.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switch to the app. (Pause recording here, bring the browser to the front, unpause.)
DEMO SCRIPT, about two minutes:
1. QUEUE. "This is what the investigator opens on Monday morning. All fifty referrals were scored before I logged in. Up top: how many are High, Medium and Low. Every row already has a risk level and a confidence badge." Click the High filter.
2. OBVIOUS CASE, C1024. Open it. "Sixty-six thousand dollars of skilled nursing in New York. On the right the AI says High risk, and here is why in two sentences." Read the overview aloud. "Now look at the key drivers. Each one names a signal and its value: eighteen visits a week, a hundred and fourteen miles from the member, fifty-three percent weekend billing. And on the left, those exact numbers are highlighted in the raw signals. I am not trusting prose, I am checking the number."
   Chat: type "Which of these signals would you check first, and why?" Wait for the answer. "It answers only from this claim's data, and if I ask something the data can't answer it says so."
   Click Escalate to SIU, type a note like "Provider-level pattern, refer for field review", save. "The status changed, the note is stored, and the AI's assessment is kept beside my decision for audit."
3. FALSE POSITIVE, C1047. Back to the queue, filter Low, open it. "Twenty-seven hundred dollars of assisted living. Every signal is zero. The AI says Low risk with high confidence, and the overview says the same thing plainly. This case used to cost the same ten minutes as the last one." Click Dismiss. "Done. That is twenty-eight cases in the queue that now take one glance each."
4. JUDGEMENT CASE, C1019 (if time allows, 30 seconds). "Four signals out of ten and they don't all agree. This is where the confidence badge earns its place: the model was told to lower confidence when signals conflict and to say so." Ask the chat: "Is the shared contact with the provider enough on its own to escalate?" "This is the case a human should spend their morning on."
5. Back to the queue. "Two decisions, under a minute, each with a written reason stored next to the AI's reasoning. That is the whole product."
BEFORE RECORDING: run the app once and confirm which risk level and confidence the model actually assigned to C1024, C1047 and C1019 in your run, and adjust the words above to match what is on screen.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how it is built. There are two halves sharing one Postgres database. The top half runs before anyone logs in: it loads the fifty cases and scores every one that has no risk level yet, ten cases per call to the model. The bottom half is what you just saw: a React front end talking to a small FastAPI service, plus a chat chain that uses the same grounded prompt with a per-case memory.
The part I care most about is the three rules that keep the model honest, because a fraud tool that hallucinates is worse than no tool.
First, the model only ever sees the sixteen fields of one claim, as plain text. No tools, no web, no other context. There is nothing to make up from.
Second, it has to show its work. Every key driver must name the exact field and value, and if the signals are weak or conflicting it must lower its confidence and say so. That is where the confidence badge comes from.
Third, the answer has a fixed shape. It is forced into a typed schema, so risk and confidence can only be High, Medium or Low, and key drivers are a list. A malformed answer fails loudly. It never reaches the screen.
Two engineering details worth a sentence each. Only cases without a risk level get scored, and the database is committed after every batch, so a failed call never loses earlier work and a restart never re-spends money. And the data model keeps what came in, what the AI said, and what the human decided in the same row, so an audit can compare them directly.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decisions I would defend, and what each one cost.
I used one grounded call rather than a multi-agent setup, because there is no extra evidence for agents to go and fetch. It is cheaper, faster and easier to audit, and the only cost is that it looks less impressive on paper.
I score ten cases per call. That keeps the whole queue at five calls and under the free-tier quota. The cost is that one bad response could affect ten cases, which is why every batch is committed separately and every result is tagged by case id.
The model assigns the risk level itself, from the raw signals. That gives richer reasoning about combinations of signals, at some cost to consistency between runs. A hybrid, where a deterministic score sets the bounds and the model explains within them, is the next step.
Scoring runs at startup, which meant zero extra infrastructure for a prototype, but it will not scale. And I used an off-the-shelf chat history library that cost five lines of code; it uses a single shared connection, and I would replace it before production.
The risks I would want a reviewer to know about: there is no labelled ground truth yet, so the risk level is judgement; a confident overview can be over-trusted, which is why the evidence is on the same screen; cost is trivial now but needs a queue at scale; and chat input reaches the model directly, so prompt injection and PII handling need work before real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were going into production for a large team, here is what I would build next, in order.
First, move scoring into a background worker so it never blocks the investigator's screen, with each claim as a retryable job, batched and rate-limited.
Second, and this is the one I care most about, close the loop. Every escalate or dismiss the investigator records is a label. That lets us measure how often the AI and the human agree, how precise the escalations are, and how long decisions take, and run a regression set before any prompt or model change.
Third, make it safe for many users: sign-in and roles, team queues, case assignment, and a proper connection pool.
Fourth, guardrails and a model lifecycle: check that every cited driver names a real field, screen chat input, version the prompts, keep a fallback model.
Fifth, the performance and compliance work: pagination, streamed chat, encryption and PII minimisation.
To sum up: the investigator opens a queue that is already sorted and explained, spends one glance on the cases that are nothing, and spends real attention on the ones that need it. Every decision is theirs, and every decision is written down next to the evidence. The repo, README and write-up are in the submission. Thanks for watching.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C3A"/>
        </a:solidFill>
        <a:effectLst/>
      </p:bgPr>
    </p:bg>
    <p:spTree>
      <p:nvGrpSpPr>
        <p:cNvPr id="1" name=""/>
        <p:cNvGrpSpPr/>
        <p:nvPr/>
      </p:nvGrpSpPr>
      <p:grpSpPr>
        <a:xfrm>
          <a:off x="0" y="0"/>
          <a:ext cx="0" cy="0"/>
          <a:chOff x="0" y="0"/>
          <a:chExt cx="0" cy="0"/>
        </a:xfrm>
      </p:grpSpPr>
      <p:sp>
        <p:nvSpPr>
          <p:cNvPr id="2" name="Shape 0"/>
          <p:cNvSpPr/>
          <p:nvPr/>
        </p:nvSpPr>
        <p:spPr>
          <a:xfrm>
            <a:off x="0" y="4846320"/>
            <a:ext cx="12188952" cy="2011680"/>
          </a:xfrm>
          <a:prstGeom prst="rect">
            <a:avLst/>
          </a:prstGeom>
          <a:solidFill>
            <a:srgbClr val="5E1430"/>
          </a:solidFill>
          <a:ln w="12700">
            <a:solidFill>
              <a:srgbClr val="5E1430"/>
            </a:solidFill>
            <a:prstDash val="solid"/>
          </a:ln>
        </p:spPr>
      </p:sp>
      <p:sp>
        <p:nvSpPr>
          <p:cNvPr id="3" name="Text 1"/>
          <p:cNvSpPr txBox="1"/>
          <p:nvPr/>
        </p:nvSpPr>
        <p:spPr>
          <a:xfrm>
            <a:off x="731520" y="155448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SIU Fraud Investigation</a:t>
            </a:r>
            <a:endParaRPr lang="en-US" sz="4400" dirty="0"/>
          </a:p>
        </p:txBody>
      </p:sp>
      <p:sp>
        <p:nvSpPr>
          <p:cNvPr id="4" name="Text 2"/>
          <p:cNvSpPr txBox="1"/>
          <p:nvPr/>
        </p:nvSpPr>
        <p:spPr>
          <a:xfrm>
            <a:off x="731520" y="2514600"/>
            <a:ext cx="9601200" cy="548640"/>
          </a:xfrm>
          <a:prstGeom prst="rect">
            <a:avLst/>
          </a:prstGeom>
          <a:noFill/>
          <a:ln/>
        </p:spPr>
        <p:txBody>
          <a:bodyPr wrap="square" lIns="0" tIns="0" rIns="0" bIns="0" rtlCol="0" anchor="ctr"/>
          <a:lstStyle/>
          <a:p>
            <a:pPr marL="0" indent="0">
              <a:buNone/>
            </a:pPr>
            <a:r>
              <a:rPr lang="en-US" sz="2200" dirty="0">
                <a:solidFill>
                  <a:srgbClr val="F3C7A8"/>
                </a:solidFill>
                <a:latin typeface="Calibri" pitchFamily="34" charset="0"/>
                <a:ea typeface="Calibri" pitchFamily="34" charset="-122"/>
                <a:cs typeface="Calibri" pitchFamily="34" charset="-120"/>
              </a:rPr>
              <a:t>Case review that starts before the investigator sits down</a:t>
            </a:r>
            <a:endParaRPr lang="en-US" sz="2200" dirty="0"/>
          </a:p>
        </p:txBody>
      </p:sp>
      <p:sp>
        <p:nvSpPr>
          <p:cNvPr id="5" name="Text 3"/>
          <p:cNvSpPr txBox="1"/>
          <p:nvPr/>
        </p:nvSpPr>
        <p:spPr>
          <a:xfrm>
            <a:off x="731520" y="3200400"/>
            <a:ext cx="9601200" cy="822960"/>
          </a:xfrm>
          <a:prstGeom prst="rect">
            <a:avLst/>
          </a:prstGeom>
          <a:noFill/>
          <a:ln/>
        </p:spPr>
        <p:txBody>
          <a:bodyPr wrap="square" lIns="0" tIns="0" rIns="0" bIns="0" rtlCol="0" anchor="ctr"/>
          <a:lstStyle/>
          <a:p>
            <a:pPr marL="0" indent="0">
              <a:buNone/>
            </a:pPr>
            <a:r>
              <a:rPr lang="en-US" sz="1400" dirty="0">
                <a:solidFill>
                  <a:srgbClr val="E7C9B8"/>
                </a:solidFill>
                <a:latin typeface="Calibri" pitchFamily="34" charset="0"/>
                <a:ea typeface="Calibri" pitchFamily="34" charset="-122"/>
                <a:cs typeface="Calibri" pitchFamily="34" charset="-120"/>
              </a:rPr>
              <a:t>A working prototype built for the take-home assessment: 50 referred claims are scored overnight, and the investigator opens a queue that is already sorted, explained, and ready to act on.</a:t>
            </a:r>
            <a:endParaRPr lang="en-US" sz="1400" dirty="0"/>
          </a:p>
        </p:txBody>
      </p:sp>
      <p:sp>
        <p:nvSpPr>
          <p:cNvPr id="6" name="Text 4"/>
          <p:cNvSpPr txBox="1"/>
          <p:nvPr/>
        </p:nvSpPr>
        <p:spPr>
          <a:xfrm>
            <a:off x="731520" y="5120640"/>
            <a:ext cx="54864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Vraj Patel</a:t>
            </a:r>
            <a:endParaRPr lang="en-US" sz="1800" dirty="0"/>
          </a:p>
        </p:txBody>
      </p:sp>
      <p:sp>
        <p:nvSpPr>
          <p:cNvPr id="7" name="Text 5"/>
          <p:cNvSpPr txBox="1"/>
          <p:nvPr/>
        </p:nvSpPr>
        <p:spPr>
          <a:xfrm>
            <a:off x="731520" y="5532120"/>
            <a:ext cx="9144000" cy="320040"/>
          </a:xfrm>
          <a:prstGeom prst="rect">
            <a:avLst/>
          </a:prstGeom>
          <a:noFill/>
          <a:ln/>
        </p:spPr>
        <p:txBody>
          <a:bodyPr wrap="square" lIns="0" tIns="0" rIns="0" bIns="0" rtlCol="0" anchor="ctr"/>
          <a:lstStyle/>
          <a:p>
            <a:pPr marL="0" indent="0">
              <a:buNone/>
            </a:pPr>
            <a:r>
              <a:rPr lang="en-US" sz="1200" dirty="0">
                <a:solidFill>
                  <a:srgbClr val="E7C9B8"/>
                </a:solidFill>
                <a:latin typeface="Calibri" pitchFamily="34" charset="0"/>
                <a:ea typeface="Calibri" pitchFamily="34" charset="-122"/>
                <a:cs typeface="Calibri" pitchFamily="34" charset="-120"/>
              </a:rPr>
              <a:t>Python and FastAPI, PostgreSQL 16, LangChain with Gemini, React and TypeScript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7A1C3A"/>
                </a:solidFill>
                <a:latin typeface="Cambria" pitchFamily="34" charset="0"/>
                <a:ea typeface="Cambria" pitchFamily="34" charset="-122"/>
                <a:cs typeface="Cambria" pitchFamily="34" charset="-120"/>
              </a:rPr>
              <a:t>Monday morning: 50 referrals, one investigator</a:t>
            </a:r>
            <a:endParaRPr lang="en-US" sz="28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marL="0" indent="0">
              <a:buNone/>
            </a:pPr>
            <a:r>
              <a:rPr lang="en-US" sz="1300" dirty="0">
                <a:solidFill>
                  <a:srgbClr val="7A6A6E"/>
                </a:solidFill>
                <a:latin typeface="Calibri" pitchFamily="34" charset="0"/>
                <a:ea typeface="Calibri" pitchFamily="34" charset="-122"/>
                <a:cs typeface="Calibri" pitchFamily="34" charset="-120"/>
              </a:rPr>
              <a:t>The fraud engine flags claims. A person still has to work every one of them the same way.</a:t>
            </a:r>
            <a:endParaRPr lang="en-US" sz="1300" dirty="0"/>
          </a:p>
        </p:txBody>
      </p:sp>
      <p:sp>
        <p:nvSpPr>
          <p:cNvPr id="4" name="Shape 2"/>
          <p:cNvSpPr/>
          <p:nvPr/>
        </p:nvSpPr>
        <p:spPr>
          <a:xfrm>
            <a:off x="548640" y="1508760"/>
            <a:ext cx="5120640" cy="4754880"/>
          </a:xfrm>
          <a:prstGeom prst="roundRect">
            <a:avLst>
              <a:gd name="adj" fmla="val 1154"/>
            </a:avLst>
          </a:prstGeom>
          <a:solidFill>
            <a:srgbClr val="FBF3E4"/>
          </a:solidFill>
          <a:ln w="9525">
            <a:solidFill>
              <a:srgbClr val="FBF3E4"/>
            </a:solidFill>
            <a:prstDash val="solid"/>
          </a:ln>
        </p:spPr>
      </p:sp>
      <p:sp>
        <p:nvSpPr>
          <p:cNvPr id="5" name="Text 3"/>
          <p:cNvSpPr txBox="1"/>
          <p:nvPr/>
        </p:nvSpPr>
        <p:spPr>
          <a:xfrm>
            <a:off x="777240" y="1645920"/>
            <a:ext cx="4663440" cy="292608"/>
          </a:xfrm>
          <a:prstGeom prst="rect">
            <a:avLst/>
          </a:prstGeom>
          <a:noFill/>
          <a:ln/>
        </p:spPr>
        <p:txBody>
          <a:bodyPr wrap="square" lIns="0" tIns="0" rIns="0" bIns="0" rtlCol="0" anchor="ctr"/>
          <a:lstStyle/>
          <a:p>
            <a:pPr marL="0" indent="0">
              <a:buNone/>
            </a:pPr>
            <a:r>
              <a:rPr lang="en-US" sz="1300" b="1" dirty="0">
                <a:solidFill>
                  <a:srgbClr val="B8860B"/>
                </a:solidFill>
                <a:latin typeface="Calibri" pitchFamily="34" charset="0"/>
                <a:ea typeface="Calibri" pitchFamily="34" charset="-122"/>
                <a:cs typeface="Calibri" pitchFamily="34" charset="-120"/>
              </a:rPr>
              <a:t>How the morning goes today</a:t>
            </a:r>
            <a:endParaRPr lang="en-US" sz="1300" dirty="0"/>
          </a:p>
        </p:txBody>
      </p:sp>
      <p:sp>
        <p:nvSpPr>
          <p:cNvPr id="6" name="Text 4"/>
          <p:cNvSpPr txBox="1"/>
          <p:nvPr/>
        </p:nvSpPr>
        <p:spPr>
          <a:xfrm>
            <a:off x="777240" y="2011680"/>
            <a:ext cx="4663440" cy="1097280"/>
          </a:xfrm>
          <a:prstGeom prst="rect">
            <a:avLst/>
          </a:prstGeom>
          <a:noFill/>
          <a:ln/>
        </p:spPr>
        <p:txBody>
          <a:bodyPr wrap="square" lIns="0" tIns="0" rIns="0" bIns="0" rtlCol="0" anchor="t"/>
          <a:lstStyle/>
          <a:p>
            <a:pPr marL="0" indent="0">
              <a:buNone/>
            </a:pPr>
            <a:r>
              <a:rPr lang="en-US" sz="1200" dirty="0">
                <a:solidFill>
                  <a:srgbClr val="1A0F12"/>
                </a:solidFill>
                <a:latin typeface="Calibri" pitchFamily="34" charset="0"/>
                <a:ea typeface="Calibri" pitchFamily="34" charset="-122"/>
                <a:cs typeface="Calibri" pitchFamily="34" charset="-120"/>
              </a:rPr>
              <a:t>For each of the 50 referrals the investigator opens a legacy tool, pastes the claim number, pulls the data by hand, and reads through ten fraud signals to decide whether it is real, a false positive, or needs digging.</a:t>
            </a:r>
            <a:endParaRPr lang="en-US" sz="1200" dirty="0"/>
          </a:p>
        </p:txBody>
      </p:sp>
      <p:sp>
        <p:nvSpPr>
          <p:cNvPr id="7" name="Text 5"/>
          <p:cNvSpPr txBox="1"/>
          <p:nvPr/>
        </p:nvSpPr>
        <p:spPr>
          <a:xfrm>
            <a:off x="777240" y="3200400"/>
            <a:ext cx="4663440" cy="292608"/>
          </a:xfrm>
          <a:prstGeom prst="rect">
            <a:avLst/>
          </a:prstGeom>
          <a:noFill/>
          <a:ln/>
        </p:spPr>
        <p:txBody>
          <a:bodyPr wrap="square" lIns="0" tIns="0" rIns="0" bIns="0" rtlCol="0" anchor="ctr"/>
          <a:lstStyle/>
          <a:p>
            <a:pPr marL="0" indent="0">
              <a:buNone/>
            </a:pPr>
            <a:r>
              <a:rPr lang="en-US" sz="1300" b="1" dirty="0">
                <a:solidFill>
                  <a:srgbClr val="B8860B"/>
                </a:solidFill>
                <a:latin typeface="Calibri" pitchFamily="34" charset="0"/>
                <a:ea typeface="Calibri" pitchFamily="34" charset="-122"/>
                <a:cs typeface="Calibri" pitchFamily="34" charset="-120"/>
              </a:rPr>
              <a:t>Why that hurts</a:t>
            </a:r>
            <a:endParaRPr lang="en-US" sz="1300" dirty="0"/>
          </a:p>
        </p:txBody>
      </p:sp>
      <p:sp>
        <p:nvSpPr>
          <p:cNvPr id="8" name="Text 6"/>
          <p:cNvSpPr txBox="1"/>
          <p:nvPr/>
        </p:nvSpPr>
        <p:spPr>
          <a:xfrm>
            <a:off x="731520" y="3520440"/>
            <a:ext cx="4754880" cy="2651760"/>
          </a:xfrm>
          <a:prstGeom prst="rect">
            <a:avLst/>
          </a:prstGeom>
          <a:noFill/>
          <a:ln/>
        </p:spPr>
        <p:txBody>
          <a:bodyPr wrap="square" lIns="25400" tIns="25400" rIns="25400" bIns="25400" rtlCol="0" anchor="t"/>
          <a:lstStyle/>
          <a:p>
            <a:pPr marL="152400" indent="-152400">
              <a:spcAft>
                <a:spcPts val="500"/>
              </a:spcAft>
              <a:buSzPct val="100000"/>
              <a:buChar char="•"/>
            </a:pPr>
            <a:r>
              <a:rPr lang="en-US" sz="1200" dirty="0">
                <a:solidFill>
                  <a:srgbClr val="1A0F12"/>
                </a:solidFill>
                <a:latin typeface="Calibri" pitchFamily="34" charset="0"/>
                <a:ea typeface="Calibri" pitchFamily="34" charset="-122"/>
                <a:cs typeface="Calibri" pitchFamily="34" charset="-120"/>
              </a:rPr>
              <a:t>Every case costs the same effort, whether it is obvious or benign</a:t>
            </a:r>
            <a:endParaRPr lang="en-US" sz="1200" dirty="0"/>
          </a:p>
          <a:p>
            <a:pPr marL="152400" indent="-152400">
              <a:spcAft>
                <a:spcPts val="500"/>
              </a:spcAft>
              <a:buSzPct val="100000"/>
              <a:buChar char="•"/>
            </a:pPr>
            <a:r>
              <a:rPr lang="en-US" sz="1200" dirty="0">
                <a:solidFill>
                  <a:srgbClr val="1A0F12"/>
                </a:solidFill>
                <a:latin typeface="Calibri" pitchFamily="34" charset="0"/>
                <a:ea typeface="Calibri" pitchFamily="34" charset="-122"/>
                <a:cs typeface="Calibri" pitchFamily="34" charset="-120"/>
              </a:rPr>
              <a:t>The most time goes to the cases that turn out to be nothing</a:t>
            </a:r>
            <a:endParaRPr lang="en-US" sz="1200" dirty="0"/>
          </a:p>
          <a:p>
            <a:pPr marL="152400" indent="-152400">
              <a:spcAft>
                <a:spcPts val="500"/>
              </a:spcAft>
              <a:buSzPct val="100000"/>
              <a:buChar char="•"/>
            </a:pPr>
            <a:r>
              <a:rPr lang="en-US" sz="1200" dirty="0">
                <a:solidFill>
                  <a:srgbClr val="1A0F12"/>
                </a:solidFill>
                <a:latin typeface="Calibri" pitchFamily="34" charset="0"/>
                <a:ea typeface="Calibri" pitchFamily="34" charset="-122"/>
                <a:cs typeface="Calibri" pitchFamily="34" charset="-120"/>
              </a:rPr>
              <a:t>Two investigators can reach two different conclusions on the same file</a:t>
            </a:r>
            <a:endParaRPr lang="en-US" sz="1200" dirty="0"/>
          </a:p>
          <a:p>
            <a:pPr marL="152400" indent="-152400">
              <a:spcAft>
                <a:spcPts val="500"/>
              </a:spcAft>
              <a:buSzPct val="100000"/>
              <a:buChar char="•"/>
            </a:pPr>
            <a:r>
              <a:rPr lang="en-US" sz="1200" dirty="0">
                <a:solidFill>
                  <a:srgbClr val="1A0F12"/>
                </a:solidFill>
                <a:latin typeface="Calibri" pitchFamily="34" charset="0"/>
                <a:ea typeface="Calibri" pitchFamily="34" charset="-122"/>
                <a:cs typeface="Calibri" pitchFamily="34" charset="-120"/>
              </a:rPr>
              <a:t>Nothing is written down about why a decision was made</a:t>
            </a:r>
            <a:endParaRPr lang="en-US" sz="1200" dirty="0"/>
          </a:p>
        </p:txBody>
      </p:sp>
      <p:sp>
        <p:nvSpPr>
          <p:cNvPr id="9" name="Text 7"/>
          <p:cNvSpPr txBox="1"/>
          <p:nvPr/>
        </p:nvSpPr>
        <p:spPr>
          <a:xfrm>
            <a:off x="6035040" y="1508760"/>
            <a:ext cx="5577840" cy="292608"/>
          </a:xfrm>
          <a:prstGeom prst="rect">
            <a:avLst/>
          </a:prstGeom>
          <a:noFill/>
          <a:ln/>
        </p:spPr>
        <p:txBody>
          <a:bodyPr wrap="square" lIns="0" tIns="0" rIns="0" bIns="0" rtlCol="0" anchor="ctr"/>
          <a:lstStyle/>
          <a:p>
            <a:pPr marL="0" indent="0">
              <a:buNone/>
            </a:pPr>
            <a:r>
              <a:rPr lang="en-US" sz="1300" b="1" dirty="0">
                <a:solidFill>
                  <a:srgbClr val="7A1C3A"/>
                </a:solidFill>
                <a:latin typeface="Calibri" pitchFamily="34" charset="0"/>
                <a:ea typeface="Calibri" pitchFamily="34" charset="-122"/>
                <a:cs typeface="Calibri" pitchFamily="34" charset="-120"/>
              </a:rPr>
              <a:t>What is actually in the sample queue</a:t>
            </a:r>
            <a:endParaRPr lang="en-US" sz="1300" dirty="0"/>
          </a:p>
        </p:txBody>
      </p:sp>
      <p:sp>
        <p:nvSpPr>
          <p:cNvPr id="10" name="Text 8"/>
          <p:cNvSpPr txBox="1"/>
          <p:nvPr/>
        </p:nvSpPr>
        <p:spPr>
          <a:xfrm>
            <a:off x="6035040" y="1828800"/>
            <a:ext cx="5577840" cy="457200"/>
          </a:xfrm>
          <a:prstGeom prst="rect">
            <a:avLst/>
          </a:prstGeom>
          <a:noFill/>
          <a:ln/>
        </p:spPr>
        <p:txBody>
          <a:bodyPr wrap="square" lIns="0" tIns="0" rIns="0" bIns="0" rtlCol="0" anchor="t"/>
          <a:lstStyle/>
          <a:p>
            <a:pPr marL="0" indent="0">
              <a:buNone/>
            </a:pPr>
            <a:r>
              <a:rPr lang="en-US" sz="1200" dirty="0">
                <a:solidFill>
                  <a:srgbClr val="4A4A4A"/>
                </a:solidFill>
                <a:latin typeface="Calibri" pitchFamily="34" charset="0"/>
                <a:ea typeface="Calibri" pitchFamily="34" charset="-122"/>
                <a:cs typeface="Calibri" pitchFamily="34" charset="-120"/>
              </a:rPr>
              <a:t>I looked at the 50 cases before building anything. The queue is not evenly hard:</a:t>
            </a:r>
            <a:endParaRPr lang="en-US" sz="1200" dirty="0"/>
          </a:p>
        </p:txBody>
      </p:sp>
      <p:sp>
        <p:nvSpPr>
          <p:cNvPr id="11" name="Shape 9"/>
          <p:cNvSpPr/>
          <p:nvPr/>
        </p:nvSpPr>
        <p:spPr>
          <a:xfrm>
            <a:off x="6035040" y="2377440"/>
            <a:ext cx="3123590" cy="685800"/>
          </a:xfrm>
          <a:prstGeom prst="rect">
            <a:avLst/>
          </a:prstGeom>
          <a:solidFill>
            <a:srgbClr val="2E7D5B"/>
          </a:solidFill>
          <a:ln w="12700">
            <a:solidFill>
              <a:srgbClr val="FFFFFF"/>
            </a:solidFill>
            <a:prstDash val="solid"/>
          </a:ln>
        </p:spPr>
      </p:sp>
      <p:sp>
        <p:nvSpPr>
          <p:cNvPr id="12" name="Text 10"/>
          <p:cNvSpPr txBox="1"/>
          <p:nvPr/>
        </p:nvSpPr>
        <p:spPr>
          <a:xfrm>
            <a:off x="6035040" y="2377440"/>
            <a:ext cx="312359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28</a:t>
            </a:r>
            <a:endParaRPr lang="en-US" sz="2000" dirty="0"/>
          </a:p>
        </p:txBody>
      </p:sp>
      <p:sp>
        <p:nvSpPr>
          <p:cNvPr id="13" name="Shape 11"/>
          <p:cNvSpPr/>
          <p:nvPr/>
        </p:nvSpPr>
        <p:spPr>
          <a:xfrm>
            <a:off x="9158630" y="2377440"/>
            <a:ext cx="1561795" cy="685800"/>
          </a:xfrm>
          <a:prstGeom prst="rect">
            <a:avLst/>
          </a:prstGeom>
          <a:solidFill>
            <a:srgbClr val="B8860B"/>
          </a:solidFill>
          <a:ln w="12700">
            <a:solidFill>
              <a:srgbClr val="FFFFFF"/>
            </a:solidFill>
            <a:prstDash val="solid"/>
          </a:ln>
        </p:spPr>
      </p:sp>
      <p:sp>
        <p:nvSpPr>
          <p:cNvPr id="14" name="Text 12"/>
          <p:cNvSpPr txBox="1"/>
          <p:nvPr/>
        </p:nvSpPr>
        <p:spPr>
          <a:xfrm>
            <a:off x="9158630" y="2377440"/>
            <a:ext cx="1561795"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14</a:t>
            </a:r>
            <a:endParaRPr lang="en-US" sz="2000" dirty="0"/>
          </a:p>
        </p:txBody>
      </p:sp>
      <p:sp>
        <p:nvSpPr>
          <p:cNvPr id="15" name="Shape 13"/>
          <p:cNvSpPr/>
          <p:nvPr/>
        </p:nvSpPr>
        <p:spPr>
          <a:xfrm>
            <a:off x="10720426" y="2377440"/>
            <a:ext cx="892454" cy="685800"/>
          </a:xfrm>
          <a:prstGeom prst="rect">
            <a:avLst/>
          </a:prstGeom>
          <a:solidFill>
            <a:srgbClr val="E4572E"/>
          </a:solidFill>
          <a:ln w="12700">
            <a:solidFill>
              <a:srgbClr val="FFFFFF"/>
            </a:solidFill>
            <a:prstDash val="solid"/>
          </a:ln>
        </p:spPr>
      </p:sp>
      <p:sp>
        <p:nvSpPr>
          <p:cNvPr id="16" name="Text 14"/>
          <p:cNvSpPr txBox="1"/>
          <p:nvPr/>
        </p:nvSpPr>
        <p:spPr>
          <a:xfrm>
            <a:off x="10720426" y="2377440"/>
            <a:ext cx="892454"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17" name="Shape 15"/>
          <p:cNvSpPr/>
          <p:nvPr/>
        </p:nvSpPr>
        <p:spPr>
          <a:xfrm>
            <a:off x="6035040" y="3364992"/>
            <a:ext cx="201168" cy="201168"/>
          </a:xfrm>
          <a:prstGeom prst="rect">
            <a:avLst/>
          </a:prstGeom>
          <a:solidFill>
            <a:srgbClr val="2E7D5B"/>
          </a:solidFill>
          <a:ln w="12700">
            <a:solidFill>
              <a:srgbClr val="2E7D5B"/>
            </a:solidFill>
            <a:prstDash val="solid"/>
          </a:ln>
        </p:spPr>
      </p:sp>
      <p:sp>
        <p:nvSpPr>
          <p:cNvPr id="18" name="Text 16"/>
          <p:cNvSpPr txBox="1"/>
          <p:nvPr/>
        </p:nvSpPr>
        <p:spPr>
          <a:xfrm>
            <a:off x="6355080" y="3291840"/>
            <a:ext cx="5212080" cy="365760"/>
          </a:xfrm>
          <a:prstGeom prst="rect">
            <a:avLst/>
          </a:prstGeom>
          <a:noFill/>
          <a:ln/>
        </p:spPr>
        <p:txBody>
          <a:bodyPr wrap="square" lIns="0" tIns="0" rIns="0" bIns="0" rtlCol="0" anchor="ctr"/>
          <a:lstStyle/>
          <a:p>
            <a:pPr marL="0" indent="0">
              <a:buNone/>
            </a:pPr>
            <a:r>
              <a:rPr lang="en-US" sz="1200" b="1" dirty="0">
                <a:solidFill>
                  <a:srgbClr val="1A0F12"/>
                </a:solidFill>
                <a:latin typeface="Calibri" pitchFamily="34" charset="0"/>
                <a:ea typeface="Calibri" pitchFamily="34" charset="-122"/>
                <a:cs typeface="Calibri" pitchFamily="34" charset="-120"/>
              </a:rPr>
              <a:t>No signal triggered at all   </a:t>
            </a:r>
            <a:r>
              <a:rPr lang="en-US" sz="1200" dirty="0">
                <a:solidFill>
                  <a:srgbClr val="4A4A4A"/>
                </a:solidFill>
                <a:latin typeface="Calibri" pitchFamily="34" charset="0"/>
                <a:ea typeface="Calibri" pitchFamily="34" charset="-122"/>
                <a:cs typeface="Calibri" pitchFamily="34" charset="-120"/>
              </a:rPr>
              <a:t>very likely false positives</a:t>
            </a:r>
            <a:endParaRPr lang="en-US" sz="1200" dirty="0"/>
          </a:p>
        </p:txBody>
      </p:sp>
      <p:sp>
        <p:nvSpPr>
          <p:cNvPr id="19" name="Shape 17"/>
          <p:cNvSpPr/>
          <p:nvPr/>
        </p:nvSpPr>
        <p:spPr>
          <a:xfrm>
            <a:off x="6035040" y="4023360"/>
            <a:ext cx="201168" cy="201168"/>
          </a:xfrm>
          <a:prstGeom prst="rect">
            <a:avLst/>
          </a:prstGeom>
          <a:solidFill>
            <a:srgbClr val="B8860B"/>
          </a:solidFill>
          <a:ln w="12700">
            <a:solidFill>
              <a:srgbClr val="B8860B"/>
            </a:solidFill>
            <a:prstDash val="solid"/>
          </a:ln>
        </p:spPr>
      </p:sp>
      <p:sp>
        <p:nvSpPr>
          <p:cNvPr id="20" name="Text 18"/>
          <p:cNvSpPr txBox="1"/>
          <p:nvPr/>
        </p:nvSpPr>
        <p:spPr>
          <a:xfrm>
            <a:off x="6355080" y="3950208"/>
            <a:ext cx="5212080" cy="365760"/>
          </a:xfrm>
          <a:prstGeom prst="rect">
            <a:avLst/>
          </a:prstGeom>
          <a:noFill/>
          <a:ln/>
        </p:spPr>
        <p:txBody>
          <a:bodyPr wrap="square" lIns="0" tIns="0" rIns="0" bIns="0" rtlCol="0" anchor="ctr"/>
          <a:lstStyle/>
          <a:p>
            <a:pPr marL="0" indent="0">
              <a:buNone/>
            </a:pPr>
            <a:r>
              <a:rPr lang="en-US" sz="1200" b="1" dirty="0">
                <a:solidFill>
                  <a:srgbClr val="1A0F12"/>
                </a:solidFill>
                <a:latin typeface="Calibri" pitchFamily="34" charset="0"/>
                <a:ea typeface="Calibri" pitchFamily="34" charset="-122"/>
                <a:cs typeface="Calibri" pitchFamily="34" charset="-120"/>
              </a:rPr>
              <a:t>Some signals, mixed picture   </a:t>
            </a:r>
            <a:r>
              <a:rPr lang="en-US" sz="1200" dirty="0">
                <a:solidFill>
                  <a:srgbClr val="4A4A4A"/>
                </a:solidFill>
                <a:latin typeface="Calibri" pitchFamily="34" charset="0"/>
                <a:ea typeface="Calibri" pitchFamily="34" charset="-122"/>
                <a:cs typeface="Calibri" pitchFamily="34" charset="-120"/>
              </a:rPr>
              <a:t>these need judgement</a:t>
            </a:r>
            <a:endParaRPr lang="en-US" sz="1200" dirty="0"/>
          </a:p>
        </p:txBody>
      </p:sp>
      <p:sp>
        <p:nvSpPr>
          <p:cNvPr id="21" name="Shape 19"/>
          <p:cNvSpPr/>
          <p:nvPr/>
        </p:nvSpPr>
        <p:spPr>
          <a:xfrm>
            <a:off x="6035040" y="4681728"/>
            <a:ext cx="201168" cy="201168"/>
          </a:xfrm>
          <a:prstGeom prst="rect">
            <a:avLst/>
          </a:prstGeom>
          <a:solidFill>
            <a:srgbClr val="E4572E"/>
          </a:solidFill>
          <a:ln w="12700">
            <a:solidFill>
              <a:srgbClr val="E4572E"/>
            </a:solidFill>
            <a:prstDash val="solid"/>
          </a:ln>
        </p:spPr>
      </p:sp>
      <p:sp>
        <p:nvSpPr>
          <p:cNvPr id="22" name="Text 20"/>
          <p:cNvSpPr txBox="1"/>
          <p:nvPr/>
        </p:nvSpPr>
        <p:spPr>
          <a:xfrm>
            <a:off x="6355080" y="4608576"/>
            <a:ext cx="5212080" cy="365760"/>
          </a:xfrm>
          <a:prstGeom prst="rect">
            <a:avLst/>
          </a:prstGeom>
          <a:noFill/>
          <a:ln/>
        </p:spPr>
        <p:txBody>
          <a:bodyPr wrap="square" lIns="0" tIns="0" rIns="0" bIns="0" rtlCol="0" anchor="ctr"/>
          <a:lstStyle/>
          <a:p>
            <a:pPr marL="0" indent="0">
              <a:buNone/>
            </a:pPr>
            <a:r>
              <a:rPr lang="en-US" sz="1200" b="1" dirty="0">
                <a:solidFill>
                  <a:srgbClr val="1A0F12"/>
                </a:solidFill>
                <a:latin typeface="Calibri" pitchFamily="34" charset="0"/>
                <a:ea typeface="Calibri" pitchFamily="34" charset="-122"/>
                <a:cs typeface="Calibri" pitchFamily="34" charset="-120"/>
              </a:rPr>
              <a:t>Every one of the 10 signals firing   </a:t>
            </a:r>
            <a:r>
              <a:rPr lang="en-US" sz="1200" dirty="0">
                <a:solidFill>
                  <a:srgbClr val="4A4A4A"/>
                </a:solidFill>
                <a:latin typeface="Calibri" pitchFamily="34" charset="0"/>
                <a:ea typeface="Calibri" pitchFamily="34" charset="-122"/>
                <a:cs typeface="Calibri" pitchFamily="34" charset="-120"/>
              </a:rPr>
              <a:t>obvious escalations</a:t>
            </a:r>
            <a:endParaRPr lang="en-US" sz="1200" dirty="0"/>
          </a:p>
        </p:txBody>
      </p:sp>
      <p:sp>
        <p:nvSpPr>
          <p:cNvPr id="23" name="Shape 21"/>
          <p:cNvSpPr/>
          <p:nvPr/>
        </p:nvSpPr>
        <p:spPr>
          <a:xfrm>
            <a:off x="6035040" y="5349240"/>
            <a:ext cx="5577840" cy="914400"/>
          </a:xfrm>
          <a:prstGeom prst="roundRect">
            <a:avLst>
              <a:gd name="adj" fmla="val 6000"/>
            </a:avLst>
          </a:prstGeom>
          <a:solidFill>
            <a:srgbClr val="7A1C3A"/>
          </a:solidFill>
          <a:ln w="9525">
            <a:solidFill>
              <a:srgbClr val="7A1C3A"/>
            </a:solidFill>
            <a:prstDash val="solid"/>
          </a:ln>
        </p:spPr>
      </p:sp>
      <p:sp>
        <p:nvSpPr>
          <p:cNvPr id="24" name="Text 22"/>
          <p:cNvSpPr txBox="1"/>
          <p:nvPr/>
        </p:nvSpPr>
        <p:spPr>
          <a:xfrm>
            <a:off x="6217920" y="5440680"/>
            <a:ext cx="5212080" cy="7772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So the job is not to detect fraud from scratch. It is to let the investigator skip the 28, confirm the 8 quickly, and spend real attention on the 14.</a:t>
            </a:r>
            <a:endParaRPr lang="en-US" sz="1250" dirty="0"/>
          </a:p>
        </p:txBody>
      </p:sp>
      <p:sp>
        <p:nvSpPr>
          <p:cNvPr id="25" name="Text 23"/>
          <p:cNvSpPr txBox="1"/>
          <p:nvPr/>
        </p:nvSpPr>
        <p:spPr>
          <a:xfrm>
            <a:off x="548640" y="6446520"/>
            <a:ext cx="11064240" cy="274320"/>
          </a:xfrm>
          <a:prstGeom prst="rect">
            <a:avLst/>
          </a:prstGeom>
          <a:noFill/>
          <a:ln/>
        </p:spPr>
        <p:txBody>
          <a:bodyPr wrap="square" lIns="0" tIns="0" rIns="0" bIns="0" rtlCol="0" anchor="ctr"/>
          <a:lstStyle/>
          <a:p>
            <a:pPr marL="0" indent="0" algn="r">
              <a:buNone/>
            </a:pPr>
            <a:r>
              <a:rPr lang="en-US" sz="900" dirty="0">
                <a:solidFill>
                  <a:srgbClr val="7A6A6E"/>
                </a:solidFill>
                <a:latin typeface="Calibri" pitchFamily="34" charset="0"/>
                <a:ea typeface="Calibri" pitchFamily="34" charset="-122"/>
                <a:cs typeface="Calibri" pitchFamily="34" charset="-120"/>
              </a:rPr>
              <a:t>Vraj Patel   |   SIU Fraud Investigation   |   2 of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7A1C3A"/>
                </a:solidFill>
                <a:latin typeface="Cambria" pitchFamily="34" charset="0"/>
                <a:ea typeface="Cambria" pitchFamily="34" charset="-122"/>
                <a:cs typeface="Cambria" pitchFamily="34" charset="-120"/>
              </a:rPr>
              <a:t>What the investigator sees instead</a:t>
            </a:r>
            <a:endParaRPr lang="en-US" sz="28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marL="0" indent="0">
              <a:buNone/>
            </a:pPr>
            <a:r>
              <a:rPr lang="en-US" sz="1300" dirty="0">
                <a:solidFill>
                  <a:srgbClr val="7A6A6E"/>
                </a:solidFill>
                <a:latin typeface="Calibri" pitchFamily="34" charset="0"/>
                <a:ea typeface="Calibri" pitchFamily="34" charset="-122"/>
                <a:cs typeface="Calibri" pitchFamily="34" charset="-120"/>
              </a:rPr>
              <a:t>Live demo: three real cases from the sample queue</a:t>
            </a:r>
            <a:endParaRPr lang="en-US" sz="1300" dirty="0"/>
          </a:p>
        </p:txBody>
      </p:sp>
      <p:sp>
        <p:nvSpPr>
          <p:cNvPr id="4" name="Shape 2"/>
          <p:cNvSpPr/>
          <p:nvPr/>
        </p:nvSpPr>
        <p:spPr>
          <a:xfrm>
            <a:off x="548640" y="1508760"/>
            <a:ext cx="3566160" cy="3154680"/>
          </a:xfrm>
          <a:prstGeom prst="roundRect">
            <a:avLst>
              <a:gd name="adj" fmla="val 1739"/>
            </a:avLst>
          </a:prstGeom>
          <a:solidFill>
            <a:srgbClr val="FFFFFF"/>
          </a:solidFill>
          <a:ln w="9525">
            <a:solidFill>
              <a:srgbClr val="F0DCCF"/>
            </a:solidFill>
            <a:prstDash val="solid"/>
          </a:ln>
        </p:spPr>
      </p:sp>
      <p:sp>
        <p:nvSpPr>
          <p:cNvPr id="5" name="Shape 3"/>
          <p:cNvSpPr/>
          <p:nvPr/>
        </p:nvSpPr>
        <p:spPr>
          <a:xfrm>
            <a:off x="731520" y="1691640"/>
            <a:ext cx="1417320" cy="292608"/>
          </a:xfrm>
          <a:prstGeom prst="rect">
            <a:avLst/>
          </a:prstGeom>
          <a:solidFill>
            <a:srgbClr val="E4572E"/>
          </a:solidFill>
          <a:ln w="12700">
            <a:solidFill>
              <a:srgbClr val="E4572E"/>
            </a:solidFill>
            <a:prstDash val="solid"/>
          </a:ln>
        </p:spPr>
      </p:sp>
      <p:sp>
        <p:nvSpPr>
          <p:cNvPr id="6" name="Text 4"/>
          <p:cNvSpPr txBox="1"/>
          <p:nvPr/>
        </p:nvSpPr>
        <p:spPr>
          <a:xfrm>
            <a:off x="731520" y="1691640"/>
            <a:ext cx="14173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Obvious</a:t>
            </a:r>
            <a:endParaRPr lang="en-US" sz="1050" dirty="0"/>
          </a:p>
        </p:txBody>
      </p:sp>
      <p:sp>
        <p:nvSpPr>
          <p:cNvPr id="7" name="Text 5"/>
          <p:cNvSpPr txBox="1"/>
          <p:nvPr/>
        </p:nvSpPr>
        <p:spPr>
          <a:xfrm>
            <a:off x="2286000" y="1673352"/>
            <a:ext cx="1645920" cy="329184"/>
          </a:xfrm>
          <a:prstGeom prst="rect">
            <a:avLst/>
          </a:prstGeom>
          <a:noFill/>
          <a:ln/>
        </p:spPr>
        <p:txBody>
          <a:bodyPr wrap="square" lIns="0" tIns="0" rIns="0" bIns="0" rtlCol="0" anchor="ctr"/>
          <a:lstStyle/>
          <a:p>
            <a:pPr marL="0" indent="0" algn="r">
              <a:buNone/>
            </a:pPr>
            <a:r>
              <a:rPr lang="en-US" sz="1600" b="1" dirty="0">
                <a:solidFill>
                  <a:srgbClr val="1A0F12"/>
                </a:solidFill>
                <a:latin typeface="Consolas" pitchFamily="34" charset="0"/>
                <a:ea typeface="Consolas" pitchFamily="34" charset="-122"/>
                <a:cs typeface="Consolas" pitchFamily="34" charset="-120"/>
              </a:rPr>
              <a:t>C1024</a:t>
            </a:r>
            <a:endParaRPr lang="en-US" sz="1600" dirty="0"/>
          </a:p>
        </p:txBody>
      </p:sp>
      <p:sp>
        <p:nvSpPr>
          <p:cNvPr id="8" name="Text 6"/>
          <p:cNvSpPr txBox="1"/>
          <p:nvPr/>
        </p:nvSpPr>
        <p:spPr>
          <a:xfrm>
            <a:off x="731520" y="2103120"/>
            <a:ext cx="3200400" cy="274320"/>
          </a:xfrm>
          <a:prstGeom prst="rect">
            <a:avLst/>
          </a:prstGeom>
          <a:noFill/>
          <a:ln/>
        </p:spPr>
        <p:txBody>
          <a:bodyPr wrap="square" lIns="0" tIns="0" rIns="0" bIns="0" rtlCol="0" anchor="t"/>
          <a:lstStyle/>
          <a:p>
            <a:pPr marL="0" indent="0">
              <a:buNone/>
            </a:pPr>
            <a:r>
              <a:rPr lang="en-US" sz="1100" dirty="0">
                <a:solidFill>
                  <a:srgbClr val="7A6A6E"/>
                </a:solidFill>
                <a:latin typeface="Calibri" pitchFamily="34" charset="0"/>
                <a:ea typeface="Calibri" pitchFamily="34" charset="-122"/>
                <a:cs typeface="Calibri" pitchFamily="34" charset="-120"/>
              </a:rPr>
              <a:t>Skilled Nursing, $66,655, NY</a:t>
            </a:r>
            <a:endParaRPr lang="en-US" sz="1100" dirty="0"/>
          </a:p>
        </p:txBody>
      </p:sp>
      <p:sp>
        <p:nvSpPr>
          <p:cNvPr id="9" name="Text 7"/>
          <p:cNvSpPr txBox="1"/>
          <p:nvPr/>
        </p:nvSpPr>
        <p:spPr>
          <a:xfrm>
            <a:off x="731520" y="2423160"/>
            <a:ext cx="3200400" cy="292608"/>
          </a:xfrm>
          <a:prstGeom prst="rect">
            <a:avLst/>
          </a:prstGeom>
          <a:noFill/>
          <a:ln/>
        </p:spPr>
        <p:txBody>
          <a:bodyPr wrap="square" lIns="0" tIns="0" rIns="0" bIns="0" rtlCol="0" anchor="ctr"/>
          <a:lstStyle/>
          <a:p>
            <a:pPr marL="0" indent="0">
              <a:buNone/>
            </a:pPr>
            <a:r>
              <a:rPr lang="en-US" sz="1100" b="1" dirty="0">
                <a:solidFill>
                  <a:srgbClr val="E4572E"/>
                </a:solidFill>
                <a:latin typeface="Calibri" pitchFamily="34" charset="0"/>
                <a:ea typeface="Calibri" pitchFamily="34" charset="-122"/>
                <a:cs typeface="Calibri" pitchFamily="34" charset="-120"/>
              </a:rPr>
              <a:t>What the data says</a:t>
            </a:r>
            <a:endParaRPr lang="en-US" sz="1100" dirty="0"/>
          </a:p>
        </p:txBody>
      </p:sp>
      <p:sp>
        <p:nvSpPr>
          <p:cNvPr id="10" name="Text 8"/>
          <p:cNvSpPr txBox="1"/>
          <p:nvPr/>
        </p:nvSpPr>
        <p:spPr>
          <a:xfrm>
            <a:off x="731520" y="2697480"/>
            <a:ext cx="3200400" cy="914400"/>
          </a:xfrm>
          <a:prstGeom prst="rect">
            <a:avLst/>
          </a:prstGeom>
          <a:noFill/>
          <a:ln/>
        </p:spPr>
        <p:txBody>
          <a:bodyPr wrap="square" lIns="0" tIns="0" rIns="0" bIns="0" rtlCol="0" anchor="t"/>
          <a:lstStyle/>
          <a:p>
            <a:pPr marL="0" indent="0">
              <a:buNone/>
            </a:pPr>
            <a:r>
              <a:rPr lang="en-US" sz="1050" dirty="0">
                <a:solidFill>
                  <a:srgbClr val="1A0F12"/>
                </a:solidFill>
                <a:latin typeface="Calibri" pitchFamily="34" charset="0"/>
                <a:ea typeface="Calibri" pitchFamily="34" charset="-122"/>
                <a:cs typeface="Calibri" pitchFamily="34" charset="-120"/>
              </a:rPr>
              <a:t>All 10 signals: 18 visits a week, 114 miles from the member, 53% weekend billing, duplicate service, shared contact with provider</a:t>
            </a:r>
            <a:endParaRPr lang="en-US" sz="1050" dirty="0"/>
          </a:p>
        </p:txBody>
      </p:sp>
      <p:sp>
        <p:nvSpPr>
          <p:cNvPr id="11" name="Text 9"/>
          <p:cNvSpPr txBox="1"/>
          <p:nvPr/>
        </p:nvSpPr>
        <p:spPr>
          <a:xfrm>
            <a:off x="731520" y="3611880"/>
            <a:ext cx="3200400" cy="292608"/>
          </a:xfrm>
          <a:prstGeom prst="rect">
            <a:avLst/>
          </a:prstGeom>
          <a:noFill/>
          <a:ln/>
        </p:spPr>
        <p:txBody>
          <a:bodyPr wrap="square" lIns="0" tIns="0" rIns="0" bIns="0" rtlCol="0" anchor="ctr"/>
          <a:lstStyle/>
          <a:p>
            <a:pPr marL="0" indent="0">
              <a:buNone/>
            </a:pPr>
            <a:r>
              <a:rPr lang="en-US" sz="1100" b="1" dirty="0">
                <a:solidFill>
                  <a:srgbClr val="E4572E"/>
                </a:solidFill>
                <a:latin typeface="Calibri" pitchFamily="34" charset="0"/>
                <a:ea typeface="Calibri" pitchFamily="34" charset="-122"/>
                <a:cs typeface="Calibri" pitchFamily="34" charset="-120"/>
              </a:rPr>
              <a:t>What we do in the demo</a:t>
            </a:r>
            <a:endParaRPr lang="en-US" sz="1100" dirty="0"/>
          </a:p>
        </p:txBody>
      </p:sp>
      <p:sp>
        <p:nvSpPr>
          <p:cNvPr id="12" name="Text 10"/>
          <p:cNvSpPr txBox="1"/>
          <p:nvPr/>
        </p:nvSpPr>
        <p:spPr>
          <a:xfrm>
            <a:off x="731520" y="3886200"/>
            <a:ext cx="3200400" cy="731520"/>
          </a:xfrm>
          <a:prstGeom prst="rect">
            <a:avLst/>
          </a:prstGeom>
          <a:noFill/>
          <a:ln/>
        </p:spPr>
        <p:txBody>
          <a:bodyPr wrap="square" lIns="0" tIns="0" rIns="0" bIns="0" rtlCol="0" anchor="t"/>
          <a:lstStyle/>
          <a:p>
            <a:pPr marL="0" indent="0">
              <a:buNone/>
            </a:pPr>
            <a:r>
              <a:rPr lang="en-US" sz="1050" dirty="0">
                <a:solidFill>
                  <a:srgbClr val="4A4A4A"/>
                </a:solidFill>
                <a:latin typeface="Calibri" pitchFamily="34" charset="0"/>
                <a:ea typeface="Calibri" pitchFamily="34" charset="-122"/>
                <a:cs typeface="Calibri" pitchFamily="34" charset="-120"/>
              </a:rPr>
              <a:t>Read the AI overview, check each key driver against the raw number, ask one follow-up question, escalate with a note.</a:t>
            </a:r>
            <a:endParaRPr lang="en-US" sz="1050" dirty="0"/>
          </a:p>
        </p:txBody>
      </p:sp>
      <p:sp>
        <p:nvSpPr>
          <p:cNvPr id="13" name="Shape 11"/>
          <p:cNvSpPr/>
          <p:nvPr/>
        </p:nvSpPr>
        <p:spPr>
          <a:xfrm>
            <a:off x="4297680" y="1508760"/>
            <a:ext cx="3566160" cy="3154680"/>
          </a:xfrm>
          <a:prstGeom prst="roundRect">
            <a:avLst>
              <a:gd name="adj" fmla="val 1739"/>
            </a:avLst>
          </a:prstGeom>
          <a:solidFill>
            <a:srgbClr val="FFFFFF"/>
          </a:solidFill>
          <a:ln w="9525">
            <a:solidFill>
              <a:srgbClr val="F0DCCF"/>
            </a:solidFill>
            <a:prstDash val="solid"/>
          </a:ln>
        </p:spPr>
      </p:sp>
      <p:sp>
        <p:nvSpPr>
          <p:cNvPr id="14" name="Shape 12"/>
          <p:cNvSpPr/>
          <p:nvPr/>
        </p:nvSpPr>
        <p:spPr>
          <a:xfrm>
            <a:off x="4480560" y="1691640"/>
            <a:ext cx="1417320" cy="292608"/>
          </a:xfrm>
          <a:prstGeom prst="rect">
            <a:avLst/>
          </a:prstGeom>
          <a:solidFill>
            <a:srgbClr val="B8860B"/>
          </a:solidFill>
          <a:ln w="12700">
            <a:solidFill>
              <a:srgbClr val="B8860B"/>
            </a:solidFill>
            <a:prstDash val="solid"/>
          </a:ln>
        </p:spPr>
      </p:sp>
      <p:sp>
        <p:nvSpPr>
          <p:cNvPr id="15" name="Text 13"/>
          <p:cNvSpPr txBox="1"/>
          <p:nvPr/>
        </p:nvSpPr>
        <p:spPr>
          <a:xfrm>
            <a:off x="4480560" y="1691640"/>
            <a:ext cx="14173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Needs judgement</a:t>
            </a:r>
            <a:endParaRPr lang="en-US" sz="1050" dirty="0"/>
          </a:p>
        </p:txBody>
      </p:sp>
      <p:sp>
        <p:nvSpPr>
          <p:cNvPr id="16" name="Text 14"/>
          <p:cNvSpPr txBox="1"/>
          <p:nvPr/>
        </p:nvSpPr>
        <p:spPr>
          <a:xfrm>
            <a:off x="6035040" y="1673352"/>
            <a:ext cx="1645920" cy="329184"/>
          </a:xfrm>
          <a:prstGeom prst="rect">
            <a:avLst/>
          </a:prstGeom>
          <a:noFill/>
          <a:ln/>
        </p:spPr>
        <p:txBody>
          <a:bodyPr wrap="square" lIns="0" tIns="0" rIns="0" bIns="0" rtlCol="0" anchor="ctr"/>
          <a:lstStyle/>
          <a:p>
            <a:pPr marL="0" indent="0" algn="r">
              <a:buNone/>
            </a:pPr>
            <a:r>
              <a:rPr lang="en-US" sz="1600" b="1" dirty="0">
                <a:solidFill>
                  <a:srgbClr val="1A0F12"/>
                </a:solidFill>
                <a:latin typeface="Consolas" pitchFamily="34" charset="0"/>
                <a:ea typeface="Consolas" pitchFamily="34" charset="-122"/>
                <a:cs typeface="Consolas" pitchFamily="34" charset="-120"/>
              </a:rPr>
              <a:t>C1019</a:t>
            </a:r>
            <a:endParaRPr lang="en-US" sz="1600" dirty="0"/>
          </a:p>
        </p:txBody>
      </p:sp>
      <p:sp>
        <p:nvSpPr>
          <p:cNvPr id="17" name="Text 15"/>
          <p:cNvSpPr txBox="1"/>
          <p:nvPr/>
        </p:nvSpPr>
        <p:spPr>
          <a:xfrm>
            <a:off x="4480560" y="2103120"/>
            <a:ext cx="3200400" cy="274320"/>
          </a:xfrm>
          <a:prstGeom prst="rect">
            <a:avLst/>
          </a:prstGeom>
          <a:noFill/>
          <a:ln/>
        </p:spPr>
        <p:txBody>
          <a:bodyPr wrap="square" lIns="0" tIns="0" rIns="0" bIns="0" rtlCol="0" anchor="t"/>
          <a:lstStyle/>
          <a:p>
            <a:pPr marL="0" indent="0">
              <a:buNone/>
            </a:pPr>
            <a:r>
              <a:rPr lang="en-US" sz="1100" dirty="0">
                <a:solidFill>
                  <a:srgbClr val="7A6A6E"/>
                </a:solidFill>
                <a:latin typeface="Calibri" pitchFamily="34" charset="0"/>
                <a:ea typeface="Calibri" pitchFamily="34" charset="-122"/>
                <a:cs typeface="Calibri" pitchFamily="34" charset="-120"/>
              </a:rPr>
              <a:t>Adult Day Care, $14,722, PA</a:t>
            </a:r>
            <a:endParaRPr lang="en-US" sz="1100" dirty="0"/>
          </a:p>
        </p:txBody>
      </p:sp>
      <p:sp>
        <p:nvSpPr>
          <p:cNvPr id="18" name="Text 16"/>
          <p:cNvSpPr txBox="1"/>
          <p:nvPr/>
        </p:nvSpPr>
        <p:spPr>
          <a:xfrm>
            <a:off x="4480560" y="2423160"/>
            <a:ext cx="3200400" cy="292608"/>
          </a:xfrm>
          <a:prstGeom prst="rect">
            <a:avLst/>
          </a:prstGeom>
          <a:noFill/>
          <a:ln/>
        </p:spPr>
        <p:txBody>
          <a:bodyPr wrap="square" lIns="0" tIns="0" rIns="0" bIns="0" rtlCol="0" anchor="ctr"/>
          <a:lstStyle/>
          <a:p>
            <a:pPr marL="0" indent="0">
              <a:buNone/>
            </a:pPr>
            <a:r>
              <a:rPr lang="en-US" sz="1100" b="1" dirty="0">
                <a:solidFill>
                  <a:srgbClr val="B8860B"/>
                </a:solidFill>
                <a:latin typeface="Calibri" pitchFamily="34" charset="0"/>
                <a:ea typeface="Calibri" pitchFamily="34" charset="-122"/>
                <a:cs typeface="Calibri" pitchFamily="34" charset="-120"/>
              </a:rPr>
              <a:t>What the data says</a:t>
            </a:r>
            <a:endParaRPr lang="en-US" sz="1100" dirty="0"/>
          </a:p>
        </p:txBody>
      </p:sp>
      <p:sp>
        <p:nvSpPr>
          <p:cNvPr id="19" name="Text 17"/>
          <p:cNvSpPr txBox="1"/>
          <p:nvPr/>
        </p:nvSpPr>
        <p:spPr>
          <a:xfrm>
            <a:off x="4480560" y="2697480"/>
            <a:ext cx="3200400" cy="914400"/>
          </a:xfrm>
          <a:prstGeom prst="rect">
            <a:avLst/>
          </a:prstGeom>
          <a:noFill/>
          <a:ln/>
        </p:spPr>
        <p:txBody>
          <a:bodyPr wrap="square" lIns="0" tIns="0" rIns="0" bIns="0" rtlCol="0" anchor="t"/>
          <a:lstStyle/>
          <a:p>
            <a:pPr marL="0" indent="0">
              <a:buNone/>
            </a:pPr>
            <a:r>
              <a:rPr lang="en-US" sz="1050" dirty="0">
                <a:solidFill>
                  <a:srgbClr val="1A0F12"/>
                </a:solidFill>
                <a:latin typeface="Calibri" pitchFamily="34" charset="0"/>
                <a:ea typeface="Calibri" pitchFamily="34" charset="-122"/>
                <a:cs typeface="Calibri" pitchFamily="34" charset="-120"/>
              </a:rPr>
              <a:t>4 of 10 signals: 57 miles, shared contact, 23% weekend billing, 38% round-dollar billing. Visits and history look normal.</a:t>
            </a:r>
            <a:endParaRPr lang="en-US" sz="1050" dirty="0"/>
          </a:p>
        </p:txBody>
      </p:sp>
      <p:sp>
        <p:nvSpPr>
          <p:cNvPr id="20" name="Text 18"/>
          <p:cNvSpPr txBox="1"/>
          <p:nvPr/>
        </p:nvSpPr>
        <p:spPr>
          <a:xfrm>
            <a:off x="4480560" y="3611880"/>
            <a:ext cx="3200400" cy="292608"/>
          </a:xfrm>
          <a:prstGeom prst="rect">
            <a:avLst/>
          </a:prstGeom>
          <a:noFill/>
          <a:ln/>
        </p:spPr>
        <p:txBody>
          <a:bodyPr wrap="square" lIns="0" tIns="0" rIns="0" bIns="0" rtlCol="0" anchor="ctr"/>
          <a:lstStyle/>
          <a:p>
            <a:pPr marL="0" indent="0">
              <a:buNone/>
            </a:pPr>
            <a:r>
              <a:rPr lang="en-US" sz="1100" b="1" dirty="0">
                <a:solidFill>
                  <a:srgbClr val="B8860B"/>
                </a:solidFill>
                <a:latin typeface="Calibri" pitchFamily="34" charset="0"/>
                <a:ea typeface="Calibri" pitchFamily="34" charset="-122"/>
                <a:cs typeface="Calibri" pitchFamily="34" charset="-120"/>
              </a:rPr>
              <a:t>What we do in the demo</a:t>
            </a:r>
            <a:endParaRPr lang="en-US" sz="1100" dirty="0"/>
          </a:p>
        </p:txBody>
      </p:sp>
      <p:sp>
        <p:nvSpPr>
          <p:cNvPr id="21" name="Text 19"/>
          <p:cNvSpPr txBox="1"/>
          <p:nvPr/>
        </p:nvSpPr>
        <p:spPr>
          <a:xfrm>
            <a:off x="4480560" y="3886200"/>
            <a:ext cx="3200400" cy="731520"/>
          </a:xfrm>
          <a:prstGeom prst="rect">
            <a:avLst/>
          </a:prstGeom>
          <a:noFill/>
          <a:ln/>
        </p:spPr>
        <p:txBody>
          <a:bodyPr wrap="square" lIns="0" tIns="0" rIns="0" bIns="0" rtlCol="0" anchor="t"/>
          <a:lstStyle/>
          <a:p>
            <a:pPr marL="0" indent="0">
              <a:buNone/>
            </a:pPr>
            <a:r>
              <a:rPr lang="en-US" sz="1050" dirty="0">
                <a:solidFill>
                  <a:srgbClr val="4A4A4A"/>
                </a:solidFill>
                <a:latin typeface="Calibri" pitchFamily="34" charset="0"/>
                <a:ea typeface="Calibri" pitchFamily="34" charset="-122"/>
                <a:cs typeface="Calibri" pitchFamily="34" charset="-120"/>
              </a:rPr>
              <a:t>The confidence badge is where this shows. Use the chat to ask which signal matters most, then decide.</a:t>
            </a:r>
            <a:endParaRPr lang="en-US" sz="1050" dirty="0"/>
          </a:p>
        </p:txBody>
      </p:sp>
      <p:sp>
        <p:nvSpPr>
          <p:cNvPr id="22" name="Shape 20"/>
          <p:cNvSpPr/>
          <p:nvPr/>
        </p:nvSpPr>
        <p:spPr>
          <a:xfrm>
            <a:off x="8046720" y="1508760"/>
            <a:ext cx="3566160" cy="3154680"/>
          </a:xfrm>
          <a:prstGeom prst="roundRect">
            <a:avLst>
              <a:gd name="adj" fmla="val 1739"/>
            </a:avLst>
          </a:prstGeom>
          <a:solidFill>
            <a:srgbClr val="FFFFFF"/>
          </a:solidFill>
          <a:ln w="9525">
            <a:solidFill>
              <a:srgbClr val="F0DCCF"/>
            </a:solidFill>
            <a:prstDash val="solid"/>
          </a:ln>
        </p:spPr>
      </p:sp>
      <p:sp>
        <p:nvSpPr>
          <p:cNvPr id="23" name="Shape 21"/>
          <p:cNvSpPr/>
          <p:nvPr/>
        </p:nvSpPr>
        <p:spPr>
          <a:xfrm>
            <a:off x="8229600" y="1691640"/>
            <a:ext cx="1417320" cy="292608"/>
          </a:xfrm>
          <a:prstGeom prst="rect">
            <a:avLst/>
          </a:prstGeom>
          <a:solidFill>
            <a:srgbClr val="2E7D5B"/>
          </a:solidFill>
          <a:ln w="12700">
            <a:solidFill>
              <a:srgbClr val="2E7D5B"/>
            </a:solidFill>
            <a:prstDash val="solid"/>
          </a:ln>
        </p:spPr>
      </p:sp>
      <p:sp>
        <p:nvSpPr>
          <p:cNvPr id="24" name="Text 22"/>
          <p:cNvSpPr txBox="1"/>
          <p:nvPr/>
        </p:nvSpPr>
        <p:spPr>
          <a:xfrm>
            <a:off x="8229600" y="1691640"/>
            <a:ext cx="14173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Likely false positive</a:t>
            </a:r>
            <a:endParaRPr lang="en-US" sz="1050" dirty="0"/>
          </a:p>
        </p:txBody>
      </p:sp>
      <p:sp>
        <p:nvSpPr>
          <p:cNvPr id="25" name="Text 23"/>
          <p:cNvSpPr txBox="1"/>
          <p:nvPr/>
        </p:nvSpPr>
        <p:spPr>
          <a:xfrm>
            <a:off x="9784080" y="1673352"/>
            <a:ext cx="1645920" cy="329184"/>
          </a:xfrm>
          <a:prstGeom prst="rect">
            <a:avLst/>
          </a:prstGeom>
          <a:noFill/>
          <a:ln/>
        </p:spPr>
        <p:txBody>
          <a:bodyPr wrap="square" lIns="0" tIns="0" rIns="0" bIns="0" rtlCol="0" anchor="ctr"/>
          <a:lstStyle/>
          <a:p>
            <a:pPr marL="0" indent="0" algn="r">
              <a:buNone/>
            </a:pPr>
            <a:r>
              <a:rPr lang="en-US" sz="1600" b="1" dirty="0">
                <a:solidFill>
                  <a:srgbClr val="1A0F12"/>
                </a:solidFill>
                <a:latin typeface="Consolas" pitchFamily="34" charset="0"/>
                <a:ea typeface="Consolas" pitchFamily="34" charset="-122"/>
                <a:cs typeface="Consolas" pitchFamily="34" charset="-120"/>
              </a:rPr>
              <a:t>C1047</a:t>
            </a:r>
            <a:endParaRPr lang="en-US" sz="1600" dirty="0"/>
          </a:p>
        </p:txBody>
      </p:sp>
      <p:sp>
        <p:nvSpPr>
          <p:cNvPr id="26" name="Text 24"/>
          <p:cNvSpPr txBox="1"/>
          <p:nvPr/>
        </p:nvSpPr>
        <p:spPr>
          <a:xfrm>
            <a:off x="8229600" y="2103120"/>
            <a:ext cx="3200400" cy="274320"/>
          </a:xfrm>
          <a:prstGeom prst="rect">
            <a:avLst/>
          </a:prstGeom>
          <a:noFill/>
          <a:ln/>
        </p:spPr>
        <p:txBody>
          <a:bodyPr wrap="square" lIns="0" tIns="0" rIns="0" bIns="0" rtlCol="0" anchor="t"/>
          <a:lstStyle/>
          <a:p>
            <a:pPr marL="0" indent="0">
              <a:buNone/>
            </a:pPr>
            <a:r>
              <a:rPr lang="en-US" sz="1100" dirty="0">
                <a:solidFill>
                  <a:srgbClr val="7A6A6E"/>
                </a:solidFill>
                <a:latin typeface="Calibri" pitchFamily="34" charset="0"/>
                <a:ea typeface="Calibri" pitchFamily="34" charset="-122"/>
                <a:cs typeface="Calibri" pitchFamily="34" charset="-120"/>
              </a:rPr>
              <a:t>Assisted Living, $2,754, CA</a:t>
            </a:r>
            <a:endParaRPr lang="en-US" sz="1100" dirty="0"/>
          </a:p>
        </p:txBody>
      </p:sp>
      <p:sp>
        <p:nvSpPr>
          <p:cNvPr id="27" name="Text 25"/>
          <p:cNvSpPr txBox="1"/>
          <p:nvPr/>
        </p:nvSpPr>
        <p:spPr>
          <a:xfrm>
            <a:off x="8229600" y="2423160"/>
            <a:ext cx="3200400" cy="292608"/>
          </a:xfrm>
          <a:prstGeom prst="rect">
            <a:avLst/>
          </a:prstGeom>
          <a:noFill/>
          <a:ln/>
        </p:spPr>
        <p:txBody>
          <a:bodyPr wrap="square" lIns="0" tIns="0" rIns="0" bIns="0" rtlCol="0" anchor="ctr"/>
          <a:lstStyle/>
          <a:p>
            <a:pPr marL="0" indent="0">
              <a:buNone/>
            </a:pPr>
            <a:r>
              <a:rPr lang="en-US" sz="1100" b="1" dirty="0">
                <a:solidFill>
                  <a:srgbClr val="2E7D5B"/>
                </a:solidFill>
                <a:latin typeface="Calibri" pitchFamily="34" charset="0"/>
                <a:ea typeface="Calibri" pitchFamily="34" charset="-122"/>
                <a:cs typeface="Calibri" pitchFamily="34" charset="-120"/>
              </a:rPr>
              <a:t>What the data says</a:t>
            </a:r>
            <a:endParaRPr lang="en-US" sz="1100" dirty="0"/>
          </a:p>
        </p:txBody>
      </p:sp>
      <p:sp>
        <p:nvSpPr>
          <p:cNvPr id="28" name="Text 26"/>
          <p:cNvSpPr txBox="1"/>
          <p:nvPr/>
        </p:nvSpPr>
        <p:spPr>
          <a:xfrm>
            <a:off x="8229600" y="2697480"/>
            <a:ext cx="3200400" cy="914400"/>
          </a:xfrm>
          <a:prstGeom prst="rect">
            <a:avLst/>
          </a:prstGeom>
          <a:noFill/>
          <a:ln/>
        </p:spPr>
        <p:txBody>
          <a:bodyPr wrap="square" lIns="0" tIns="0" rIns="0" bIns="0" rtlCol="0" anchor="t"/>
          <a:lstStyle/>
          <a:p>
            <a:pPr marL="0" indent="0">
              <a:buNone/>
            </a:pPr>
            <a:r>
              <a:rPr lang="en-US" sz="1050" dirty="0">
                <a:solidFill>
                  <a:srgbClr val="1A0F12"/>
                </a:solidFill>
                <a:latin typeface="Calibri" pitchFamily="34" charset="0"/>
                <a:ea typeface="Calibri" pitchFamily="34" charset="-122"/>
                <a:cs typeface="Calibri" pitchFamily="34" charset="-120"/>
              </a:rPr>
              <a:t>Every signal is zero. Amount is below the peer average.</a:t>
            </a:r>
            <a:endParaRPr lang="en-US" sz="1050" dirty="0"/>
          </a:p>
        </p:txBody>
      </p:sp>
      <p:sp>
        <p:nvSpPr>
          <p:cNvPr id="29" name="Text 27"/>
          <p:cNvSpPr txBox="1"/>
          <p:nvPr/>
        </p:nvSpPr>
        <p:spPr>
          <a:xfrm>
            <a:off x="8229600" y="3611880"/>
            <a:ext cx="3200400" cy="292608"/>
          </a:xfrm>
          <a:prstGeom prst="rect">
            <a:avLst/>
          </a:prstGeom>
          <a:noFill/>
          <a:ln/>
        </p:spPr>
        <p:txBody>
          <a:bodyPr wrap="square" lIns="0" tIns="0" rIns="0" bIns="0" rtlCol="0" anchor="ctr"/>
          <a:lstStyle/>
          <a:p>
            <a:pPr marL="0" indent="0">
              <a:buNone/>
            </a:pPr>
            <a:r>
              <a:rPr lang="en-US" sz="1100" b="1" dirty="0">
                <a:solidFill>
                  <a:srgbClr val="2E7D5B"/>
                </a:solidFill>
                <a:latin typeface="Calibri" pitchFamily="34" charset="0"/>
                <a:ea typeface="Calibri" pitchFamily="34" charset="-122"/>
                <a:cs typeface="Calibri" pitchFamily="34" charset="-120"/>
              </a:rPr>
              <a:t>What we do in the demo</a:t>
            </a:r>
            <a:endParaRPr lang="en-US" sz="1100" dirty="0"/>
          </a:p>
        </p:txBody>
      </p:sp>
      <p:sp>
        <p:nvSpPr>
          <p:cNvPr id="30" name="Text 28"/>
          <p:cNvSpPr txBox="1"/>
          <p:nvPr/>
        </p:nvSpPr>
        <p:spPr>
          <a:xfrm>
            <a:off x="8229600" y="3886200"/>
            <a:ext cx="3200400" cy="731520"/>
          </a:xfrm>
          <a:prstGeom prst="rect">
            <a:avLst/>
          </a:prstGeom>
          <a:noFill/>
          <a:ln/>
        </p:spPr>
        <p:txBody>
          <a:bodyPr wrap="square" lIns="0" tIns="0" rIns="0" bIns="0" rtlCol="0" anchor="t"/>
          <a:lstStyle/>
          <a:p>
            <a:pPr marL="0" indent="0">
              <a:buNone/>
            </a:pPr>
            <a:r>
              <a:rPr lang="en-US" sz="1050" dirty="0">
                <a:solidFill>
                  <a:srgbClr val="4A4A4A"/>
                </a:solidFill>
                <a:latin typeface="Calibri" pitchFamily="34" charset="0"/>
                <a:ea typeface="Calibri" pitchFamily="34" charset="-122"/>
                <a:cs typeface="Calibri" pitchFamily="34" charset="-120"/>
              </a:rPr>
              <a:t>One glance, one click: dismiss. This case used to cost the same ten minutes as C1024.</a:t>
            </a:r>
            <a:endParaRPr lang="en-US" sz="1050" dirty="0"/>
          </a:p>
        </p:txBody>
      </p:sp>
      <p:sp>
        <p:nvSpPr>
          <p:cNvPr id="31" name="Text 29"/>
          <p:cNvSpPr txBox="1"/>
          <p:nvPr/>
        </p:nvSpPr>
        <p:spPr>
          <a:xfrm>
            <a:off x="548640" y="4892040"/>
            <a:ext cx="10972800" cy="292608"/>
          </a:xfrm>
          <a:prstGeom prst="rect">
            <a:avLst/>
          </a:prstGeom>
          <a:noFill/>
          <a:ln/>
        </p:spPr>
        <p:txBody>
          <a:bodyPr wrap="square" lIns="0" tIns="0" rIns="0" bIns="0" rtlCol="0" anchor="ctr"/>
          <a:lstStyle/>
          <a:p>
            <a:pPr marL="0" indent="0">
              <a:buNone/>
            </a:pPr>
            <a:r>
              <a:rPr lang="en-US" sz="1300" b="1" dirty="0">
                <a:solidFill>
                  <a:srgbClr val="7A1C3A"/>
                </a:solidFill>
                <a:latin typeface="Calibri" pitchFamily="34" charset="0"/>
                <a:ea typeface="Calibri" pitchFamily="34" charset="-122"/>
                <a:cs typeface="Calibri" pitchFamily="34" charset="-120"/>
              </a:rPr>
              <a:t>What to notice while watching</a:t>
            </a:r>
            <a:endParaRPr lang="en-US" sz="1300" dirty="0"/>
          </a:p>
        </p:txBody>
      </p:sp>
      <p:sp>
        <p:nvSpPr>
          <p:cNvPr id="32" name="Shape 30"/>
          <p:cNvSpPr/>
          <p:nvPr/>
        </p:nvSpPr>
        <p:spPr>
          <a:xfrm>
            <a:off x="548640" y="5212080"/>
            <a:ext cx="3566160" cy="1051560"/>
          </a:xfrm>
          <a:prstGeom prst="roundRect">
            <a:avLst>
              <a:gd name="adj" fmla="val 5217"/>
            </a:avLst>
          </a:prstGeom>
          <a:solidFill>
            <a:srgbClr val="FBF3E4"/>
          </a:solidFill>
          <a:ln w="9525">
            <a:solidFill>
              <a:srgbClr val="FBF3E4"/>
            </a:solidFill>
            <a:prstDash val="solid"/>
          </a:ln>
        </p:spPr>
      </p:sp>
      <p:sp>
        <p:nvSpPr>
          <p:cNvPr id="33" name="Text 31"/>
          <p:cNvSpPr txBox="1"/>
          <p:nvPr/>
        </p:nvSpPr>
        <p:spPr>
          <a:xfrm>
            <a:off x="731520" y="5285232"/>
            <a:ext cx="3200400" cy="914400"/>
          </a:xfrm>
          <a:prstGeom prst="rect">
            <a:avLst/>
          </a:prstGeom>
          <a:noFill/>
          <a:ln/>
        </p:spPr>
        <p:txBody>
          <a:bodyPr wrap="square" lIns="0" tIns="0" rIns="0" bIns="0" rtlCol="0" anchor="t"/>
          <a:lstStyle/>
          <a:p>
            <a:pPr marL="0" indent="0">
              <a:spcAft>
                <a:spcPts val="300"/>
              </a:spcAft>
              <a:buNone/>
            </a:pPr>
            <a:r>
              <a:rPr lang="en-US" sz="1050" b="1" dirty="0">
                <a:solidFill>
                  <a:srgbClr val="7A1C3A"/>
                </a:solidFill>
                <a:latin typeface="Calibri" pitchFamily="34" charset="0"/>
                <a:ea typeface="Calibri" pitchFamily="34" charset="-122"/>
                <a:cs typeface="Calibri" pitchFamily="34" charset="-120"/>
              </a:rPr>
              <a:t>The queue is already sorted</a:t>
            </a:r>
            <a:endParaRPr lang="en-US" sz="1050" dirty="0"/>
          </a:p>
          <a:p>
            <a:pPr marL="0" indent="0">
              <a:spcAft>
                <a:spcPts val="300"/>
              </a:spcAft>
              <a:buNone/>
            </a:pPr>
            <a:r>
              <a:rPr lang="en-US" sz="1050" dirty="0">
                <a:solidFill>
                  <a:srgbClr val="4A4A4A"/>
                </a:solidFill>
                <a:latin typeface="Calibri" pitchFamily="34" charset="0"/>
                <a:ea typeface="Calibri" pitchFamily="34" charset="-122"/>
                <a:cs typeface="Calibri" pitchFamily="34" charset="-120"/>
              </a:rPr>
              <a:t>Counts by risk, and a confidence badge on every row</a:t>
            </a:r>
            <a:endParaRPr lang="en-US" sz="1050" dirty="0"/>
          </a:p>
        </p:txBody>
      </p:sp>
      <p:sp>
        <p:nvSpPr>
          <p:cNvPr id="34" name="Shape 32"/>
          <p:cNvSpPr/>
          <p:nvPr/>
        </p:nvSpPr>
        <p:spPr>
          <a:xfrm>
            <a:off x="4297680" y="5212080"/>
            <a:ext cx="3566160" cy="1051560"/>
          </a:xfrm>
          <a:prstGeom prst="roundRect">
            <a:avLst>
              <a:gd name="adj" fmla="val 5217"/>
            </a:avLst>
          </a:prstGeom>
          <a:solidFill>
            <a:srgbClr val="FBF3E4"/>
          </a:solidFill>
          <a:ln w="9525">
            <a:solidFill>
              <a:srgbClr val="FBF3E4"/>
            </a:solidFill>
            <a:prstDash val="solid"/>
          </a:ln>
        </p:spPr>
      </p:sp>
      <p:sp>
        <p:nvSpPr>
          <p:cNvPr id="35" name="Text 33"/>
          <p:cNvSpPr txBox="1"/>
          <p:nvPr/>
        </p:nvSpPr>
        <p:spPr>
          <a:xfrm>
            <a:off x="4480560" y="5285232"/>
            <a:ext cx="3200400" cy="914400"/>
          </a:xfrm>
          <a:prstGeom prst="rect">
            <a:avLst/>
          </a:prstGeom>
          <a:noFill/>
          <a:ln/>
        </p:spPr>
        <p:txBody>
          <a:bodyPr wrap="square" lIns="0" tIns="0" rIns="0" bIns="0" rtlCol="0" anchor="t"/>
          <a:lstStyle/>
          <a:p>
            <a:pPr marL="0" indent="0">
              <a:spcAft>
                <a:spcPts val="300"/>
              </a:spcAft>
              <a:buNone/>
            </a:pPr>
            <a:r>
              <a:rPr lang="en-US" sz="1050" b="1" dirty="0">
                <a:solidFill>
                  <a:srgbClr val="7A1C3A"/>
                </a:solidFill>
                <a:latin typeface="Calibri" pitchFamily="34" charset="0"/>
                <a:ea typeface="Calibri" pitchFamily="34" charset="-122"/>
                <a:cs typeface="Calibri" pitchFamily="34" charset="-120"/>
              </a:rPr>
              <a:t>Evidence sits next to the reasoning</a:t>
            </a:r>
            <a:endParaRPr lang="en-US" sz="1050" dirty="0"/>
          </a:p>
          <a:p>
            <a:pPr marL="0" indent="0">
              <a:spcAft>
                <a:spcPts val="300"/>
              </a:spcAft>
              <a:buNone/>
            </a:pPr>
            <a:r>
              <a:rPr lang="en-US" sz="1050" dirty="0">
                <a:solidFill>
                  <a:srgbClr val="4A4A4A"/>
                </a:solidFill>
                <a:latin typeface="Calibri" pitchFamily="34" charset="0"/>
                <a:ea typeface="Calibri" pitchFamily="34" charset="-122"/>
                <a:cs typeface="Calibri" pitchFamily="34" charset="-120"/>
              </a:rPr>
              <a:t>Every key driver names the signal and its value; outliers are highlighted on the left</a:t>
            </a:r>
            <a:endParaRPr lang="en-US" sz="1050" dirty="0"/>
          </a:p>
        </p:txBody>
      </p:sp>
      <p:sp>
        <p:nvSpPr>
          <p:cNvPr id="36" name="Shape 34"/>
          <p:cNvSpPr/>
          <p:nvPr/>
        </p:nvSpPr>
        <p:spPr>
          <a:xfrm>
            <a:off x="8046720" y="5212080"/>
            <a:ext cx="3566160" cy="1051560"/>
          </a:xfrm>
          <a:prstGeom prst="roundRect">
            <a:avLst>
              <a:gd name="adj" fmla="val 5217"/>
            </a:avLst>
          </a:prstGeom>
          <a:solidFill>
            <a:srgbClr val="FBF3E4"/>
          </a:solidFill>
          <a:ln w="9525">
            <a:solidFill>
              <a:srgbClr val="FBF3E4"/>
            </a:solidFill>
            <a:prstDash val="solid"/>
          </a:ln>
        </p:spPr>
      </p:sp>
      <p:sp>
        <p:nvSpPr>
          <p:cNvPr id="37" name="Text 35"/>
          <p:cNvSpPr txBox="1"/>
          <p:nvPr/>
        </p:nvSpPr>
        <p:spPr>
          <a:xfrm>
            <a:off x="8229600" y="5285232"/>
            <a:ext cx="3200400" cy="914400"/>
          </a:xfrm>
          <a:prstGeom prst="rect">
            <a:avLst/>
          </a:prstGeom>
          <a:noFill/>
          <a:ln/>
        </p:spPr>
        <p:txBody>
          <a:bodyPr wrap="square" lIns="0" tIns="0" rIns="0" bIns="0" rtlCol="0" anchor="t"/>
          <a:lstStyle/>
          <a:p>
            <a:pPr marL="0" indent="0">
              <a:spcAft>
                <a:spcPts val="300"/>
              </a:spcAft>
              <a:buNone/>
            </a:pPr>
            <a:r>
              <a:rPr lang="en-US" sz="1050" b="1" dirty="0">
                <a:solidFill>
                  <a:srgbClr val="7A1C3A"/>
                </a:solidFill>
                <a:latin typeface="Calibri" pitchFamily="34" charset="0"/>
                <a:ea typeface="Calibri" pitchFamily="34" charset="-122"/>
                <a:cs typeface="Calibri" pitchFamily="34" charset="-120"/>
              </a:rPr>
              <a:t>The AI never changes a status</a:t>
            </a:r>
            <a:endParaRPr lang="en-US" sz="1050" dirty="0"/>
          </a:p>
          <a:p>
            <a:pPr marL="0" indent="0">
              <a:spcAft>
                <a:spcPts val="300"/>
              </a:spcAft>
              <a:buNone/>
            </a:pPr>
            <a:r>
              <a:rPr lang="en-US" sz="1050" dirty="0">
                <a:solidFill>
                  <a:srgbClr val="4A4A4A"/>
                </a:solidFill>
                <a:latin typeface="Calibri" pitchFamily="34" charset="0"/>
                <a:ea typeface="Calibri" pitchFamily="34" charset="-122"/>
                <a:cs typeface="Calibri" pitchFamily="34" charset="-120"/>
              </a:rPr>
              <a:t>Accept, escalate, or dismiss is always the person's click, and the note is saved with it</a:t>
            </a:r>
            <a:endParaRPr lang="en-US" sz="1050" dirty="0"/>
          </a:p>
        </p:txBody>
      </p:sp>
      <p:sp>
        <p:nvSpPr>
          <p:cNvPr id="38" name="Text 36"/>
          <p:cNvSpPr txBox="1"/>
          <p:nvPr/>
        </p:nvSpPr>
        <p:spPr>
          <a:xfrm>
            <a:off x="548640" y="6446520"/>
            <a:ext cx="11064240" cy="274320"/>
          </a:xfrm>
          <a:prstGeom prst="rect">
            <a:avLst/>
          </a:prstGeom>
          <a:noFill/>
          <a:ln/>
        </p:spPr>
        <p:txBody>
          <a:bodyPr wrap="square" lIns="0" tIns="0" rIns="0" bIns="0" rtlCol="0" anchor="ctr"/>
          <a:lstStyle/>
          <a:p>
            <a:pPr marL="0" indent="0" algn="r">
              <a:buNone/>
            </a:pPr>
            <a:r>
              <a:rPr lang="en-US" sz="900" dirty="0">
                <a:solidFill>
                  <a:srgbClr val="7A6A6E"/>
                </a:solidFill>
                <a:latin typeface="Calibri" pitchFamily="34" charset="0"/>
                <a:ea typeface="Calibri" pitchFamily="34" charset="-122"/>
                <a:cs typeface="Calibri" pitchFamily="34" charset="-120"/>
              </a:rPr>
              <a:t>Vraj Patel   |   SIU Fraud Investigation   |   3 of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7A1C3A"/>
                </a:solidFill>
                <a:latin typeface="Cambria" pitchFamily="34" charset="0"/>
                <a:ea typeface="Cambria" pitchFamily="34" charset="-122"/>
                <a:cs typeface="Cambria" pitchFamily="34" charset="-120"/>
              </a:rPr>
              <a:t>How it works, and why the answers can be trusted</a:t>
            </a:r>
            <a:endParaRPr lang="en-US" sz="28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marL="0" indent="0">
              <a:buNone/>
            </a:pPr>
            <a:r>
              <a:rPr lang="en-US" sz="1300" dirty="0">
                <a:solidFill>
                  <a:srgbClr val="7A6A6E"/>
                </a:solidFill>
                <a:latin typeface="Calibri" pitchFamily="34" charset="0"/>
                <a:ea typeface="Calibri" pitchFamily="34" charset="-122"/>
                <a:cs typeface="Calibri" pitchFamily="34" charset="-120"/>
              </a:rPr>
              <a:t>Two halves sharing one database, and three rules that keep the model honest</a:t>
            </a:r>
            <a:endParaRPr lang="en-US" sz="1300" dirty="0"/>
          </a:p>
        </p:txBody>
      </p:sp>
      <p:pic>
        <p:nvPicPr>
          <p:cNvPr id="4" name="Image 0" descr="/home/claude/work/architecture.png"/>
          <p:cNvPicPr>
            <a:picLocks noChangeAspect="1"/>
          </p:cNvPicPr>
          <p:nvPr/>
        </p:nvPicPr>
        <p:blipFill>
          <a:blip r:embed="rId3"/>
          <a:stretch>
            <a:fillRect/>
          </a:stretch>
        </p:blipFill>
        <p:spPr>
          <a:xfrm>
            <a:off x="548640" y="1371600"/>
            <a:ext cx="11064240" cy="2679192"/>
          </a:xfrm>
          <a:prstGeom prst="rect">
            <a:avLst/>
          </a:prstGeom>
        </p:spPr>
      </p:pic>
      <p:sp>
        <p:nvSpPr>
          <p:cNvPr id="5" name="Text 2"/>
          <p:cNvSpPr txBox="1"/>
          <p:nvPr/>
        </p:nvSpPr>
        <p:spPr>
          <a:xfrm>
            <a:off x="8138160" y="1371600"/>
            <a:ext cx="3566160" cy="292608"/>
          </a:xfrm>
          <a:prstGeom prst="rect">
            <a:avLst/>
          </a:prstGeom>
          <a:noFill/>
          <a:ln/>
        </p:spPr>
        <p:txBody>
          <a:bodyPr wrap="square" lIns="0" tIns="0" rIns="0" bIns="0" rtlCol="0" anchor="ctr"/>
          <a:lstStyle/>
          <a:p>
            <a:pPr marL="0" indent="0">
              <a:buNone/>
            </a:pPr>
            <a:endParaRPr lang="en-US" sz="1300" dirty="0"/>
          </a:p>
        </p:txBody>
      </p:sp>
      <p:sp>
        <p:nvSpPr>
          <p:cNvPr id="7" name="Text 4"/>
          <p:cNvSpPr txBox="1"/>
          <p:nvPr/>
        </p:nvSpPr>
        <p:spPr>
          <a:xfrm>
            <a:off x="8275320" y="1783080"/>
            <a:ext cx="3291840" cy="228600"/>
          </a:xfrm>
          <a:prstGeom prst="rect">
            <a:avLst/>
          </a:prstGeom>
          <a:noFill/>
          <a:ln/>
        </p:spPr>
        <p:txBody>
          <a:bodyPr wrap="square" lIns="0" tIns="0" rIns="0" bIns="0" rtlCol="0" anchor="ctr"/>
          <a:lstStyle/>
          <a:p>
            <a:pPr marL="0" indent="0">
              <a:buNone/>
            </a:pPr>
            <a:endParaRPr lang="en-US" sz="1150" dirty="0"/>
          </a:p>
        </p:txBody>
      </p:sp>
      <p:sp>
        <p:nvSpPr>
          <p:cNvPr id="8" name="Text 5"/>
          <p:cNvSpPr txBox="1"/>
          <p:nvPr/>
        </p:nvSpPr>
        <p:spPr>
          <a:xfrm>
            <a:off x="8275320" y="2002536"/>
            <a:ext cx="3291840" cy="457200"/>
          </a:xfrm>
          <a:prstGeom prst="rect">
            <a:avLst/>
          </a:prstGeom>
          <a:noFill/>
          <a:ln/>
        </p:spPr>
        <p:txBody>
          <a:bodyPr wrap="square" lIns="0" tIns="0" rIns="0" bIns="0" rtlCol="0" anchor="t"/>
          <a:lstStyle/>
          <a:p>
            <a:pPr marL="0" indent="0">
              <a:buNone/>
            </a:pPr>
            <a:endParaRPr lang="en-US" sz="900" dirty="0"/>
          </a:p>
        </p:txBody>
      </p:sp>
      <p:sp>
        <p:nvSpPr>
          <p:cNvPr id="10" name="Text 7"/>
          <p:cNvSpPr txBox="1"/>
          <p:nvPr/>
        </p:nvSpPr>
        <p:spPr>
          <a:xfrm>
            <a:off x="8275320" y="2587752"/>
            <a:ext cx="3291840" cy="228600"/>
          </a:xfrm>
          <a:prstGeom prst="rect">
            <a:avLst/>
          </a:prstGeom>
          <a:noFill/>
          <a:ln/>
        </p:spPr>
        <p:txBody>
          <a:bodyPr wrap="square" lIns="0" tIns="0" rIns="0" bIns="0" rtlCol="0" anchor="ctr"/>
          <a:lstStyle/>
          <a:p>
            <a:pPr marL="0" indent="0">
              <a:buNone/>
            </a:pPr>
            <a:endParaRPr lang="en-US" sz="1150" dirty="0"/>
          </a:p>
        </p:txBody>
      </p:sp>
      <p:sp>
        <p:nvSpPr>
          <p:cNvPr id="11" name="Text 8"/>
          <p:cNvSpPr txBox="1"/>
          <p:nvPr/>
        </p:nvSpPr>
        <p:spPr>
          <a:xfrm>
            <a:off x="8275320" y="2807208"/>
            <a:ext cx="3291840" cy="457200"/>
          </a:xfrm>
          <a:prstGeom prst="rect">
            <a:avLst/>
          </a:prstGeom>
          <a:noFill/>
          <a:ln/>
        </p:spPr>
        <p:txBody>
          <a:bodyPr wrap="square" lIns="0" tIns="0" rIns="0" bIns="0" rtlCol="0" anchor="t"/>
          <a:lstStyle/>
          <a:p>
            <a:pPr marL="0" indent="0">
              <a:buNone/>
            </a:pPr>
            <a:endParaRPr lang="en-US" sz="900" dirty="0"/>
          </a:p>
        </p:txBody>
      </p:sp>
      <p:sp>
        <p:nvSpPr>
          <p:cNvPr id="14" name="Text 11"/>
          <p:cNvSpPr txBox="1"/>
          <p:nvPr/>
        </p:nvSpPr>
        <p:spPr>
          <a:xfrm>
            <a:off x="8275320" y="3611880"/>
            <a:ext cx="3291840" cy="457200"/>
          </a:xfrm>
          <a:prstGeom prst="rect">
            <a:avLst/>
          </a:prstGeom>
          <a:noFill/>
          <a:ln/>
        </p:spPr>
        <p:txBody>
          <a:bodyPr wrap="square" lIns="0" tIns="0" rIns="0" bIns="0" rtlCol="0" anchor="t"/>
          <a:lstStyle/>
          <a:p>
            <a:pPr marL="0" indent="0">
              <a:buNone/>
            </a:pPr>
            <a:endParaRPr lang="en-US" sz="900" dirty="0"/>
          </a:p>
        </p:txBody>
      </p:sp>
      <p:sp>
        <p:nvSpPr>
          <p:cNvPr id="15" name="Shape 12"/>
          <p:cNvSpPr/>
          <p:nvPr/>
        </p:nvSpPr>
        <p:spPr>
          <a:xfrm>
            <a:off x="548640" y="4251960"/>
            <a:ext cx="3566160" cy="2011680"/>
          </a:xfrm>
          <a:prstGeom prst="roundRect">
            <a:avLst>
              <a:gd name="adj" fmla="val 2727"/>
            </a:avLst>
          </a:prstGeom>
          <a:solidFill>
            <a:srgbClr val="FFFFFF"/>
          </a:solidFill>
          <a:ln w="9525">
            <a:solidFill>
              <a:srgbClr val="F0DCCF"/>
            </a:solidFill>
            <a:prstDash val="solid"/>
          </a:ln>
        </p:spPr>
      </p:sp>
      <p:sp>
        <p:nvSpPr>
          <p:cNvPr id="16" name="Text 13"/>
          <p:cNvSpPr txBox="1"/>
          <p:nvPr/>
        </p:nvSpPr>
        <p:spPr>
          <a:xfrm>
            <a:off x="731520" y="4370832"/>
            <a:ext cx="3200400" cy="292608"/>
          </a:xfrm>
          <a:prstGeom prst="rect">
            <a:avLst/>
          </a:prstGeom>
          <a:noFill/>
          <a:ln/>
        </p:spPr>
        <p:txBody>
          <a:bodyPr wrap="square" lIns="0" tIns="0" rIns="0" bIns="0" rtlCol="0" anchor="ctr"/>
          <a:lstStyle/>
          <a:p>
            <a:pPr marL="0" indent="0">
              <a:buNone/>
            </a:pPr>
            <a:r>
              <a:rPr lang="en-US" sz="1200" b="1" dirty="0">
                <a:solidFill>
                  <a:srgbClr val="7A1C3A"/>
                </a:solidFill>
                <a:latin typeface="Calibri" pitchFamily="34" charset="0"/>
                <a:ea typeface="Calibri" pitchFamily="34" charset="-122"/>
                <a:cs typeface="Calibri" pitchFamily="34" charset="-120"/>
              </a:rPr>
              <a:t>Why one call instead of agents</a:t>
            </a:r>
            <a:endParaRPr lang="en-US" sz="1200" dirty="0"/>
          </a:p>
        </p:txBody>
      </p:sp>
      <p:sp>
        <p:nvSpPr>
          <p:cNvPr id="17" name="Text 14"/>
          <p:cNvSpPr txBox="1"/>
          <p:nvPr/>
        </p:nvSpPr>
        <p:spPr>
          <a:xfrm>
            <a:off x="731520" y="4681728"/>
            <a:ext cx="3200400" cy="1554480"/>
          </a:xfrm>
          <a:prstGeom prst="rect">
            <a:avLst/>
          </a:prstGeom>
          <a:noFill/>
          <a:ln/>
        </p:spPr>
        <p:txBody>
          <a:bodyPr wrap="square" lIns="0" tIns="0" rIns="0" bIns="0" rtlCol="0" anchor="t"/>
          <a:lstStyle/>
          <a:p>
            <a:pPr marL="0" indent="0">
              <a:buNone/>
            </a:pPr>
            <a:r>
              <a:rPr lang="en-US" sz="1050" dirty="0">
                <a:solidFill>
                  <a:srgbClr val="4A4A4A"/>
                </a:solidFill>
                <a:latin typeface="Calibri" pitchFamily="34" charset="0"/>
                <a:ea typeface="Calibri" pitchFamily="34" charset="-122"/>
                <a:cs typeface="Calibri" pitchFamily="34" charset="-120"/>
              </a:rPr>
              <a:t>Every fact the AI could use is already in the 16 fields. Agents would add cost and latency without adding evidence. Ten cases per call, five calls for the queue, each result tagged by case id and checked against the schema.</a:t>
            </a:r>
            <a:endParaRPr lang="en-US" sz="1050" dirty="0"/>
          </a:p>
        </p:txBody>
      </p:sp>
      <p:sp>
        <p:nvSpPr>
          <p:cNvPr id="18" name="Shape 15"/>
          <p:cNvSpPr/>
          <p:nvPr/>
        </p:nvSpPr>
        <p:spPr>
          <a:xfrm>
            <a:off x="4297680" y="4251960"/>
            <a:ext cx="3566160" cy="2011680"/>
          </a:xfrm>
          <a:prstGeom prst="roundRect">
            <a:avLst>
              <a:gd name="adj" fmla="val 2727"/>
            </a:avLst>
          </a:prstGeom>
          <a:solidFill>
            <a:srgbClr val="FFFFFF"/>
          </a:solidFill>
          <a:ln w="9525">
            <a:solidFill>
              <a:srgbClr val="F0DCCF"/>
            </a:solidFill>
            <a:prstDash val="solid"/>
          </a:ln>
        </p:spPr>
      </p:sp>
      <p:sp>
        <p:nvSpPr>
          <p:cNvPr id="19" name="Text 16"/>
          <p:cNvSpPr txBox="1"/>
          <p:nvPr/>
        </p:nvSpPr>
        <p:spPr>
          <a:xfrm>
            <a:off x="4480560" y="4370832"/>
            <a:ext cx="3200400" cy="292608"/>
          </a:xfrm>
          <a:prstGeom prst="rect">
            <a:avLst/>
          </a:prstGeom>
          <a:noFill/>
          <a:ln/>
        </p:spPr>
        <p:txBody>
          <a:bodyPr wrap="square" lIns="0" tIns="0" rIns="0" bIns="0" rtlCol="0" anchor="ctr"/>
          <a:lstStyle/>
          <a:p>
            <a:pPr marL="0" indent="0">
              <a:buNone/>
            </a:pPr>
            <a:r>
              <a:rPr lang="en-US" sz="1200" b="1" dirty="0">
                <a:solidFill>
                  <a:srgbClr val="7A1C3A"/>
                </a:solidFill>
                <a:latin typeface="Calibri" pitchFamily="34" charset="0"/>
                <a:ea typeface="Calibri" pitchFamily="34" charset="-122"/>
                <a:cs typeface="Calibri" pitchFamily="34" charset="-120"/>
              </a:rPr>
              <a:t>What happens when a call fails</a:t>
            </a:r>
            <a:endParaRPr lang="en-US" sz="1200" dirty="0"/>
          </a:p>
        </p:txBody>
      </p:sp>
      <p:sp>
        <p:nvSpPr>
          <p:cNvPr id="20" name="Text 17"/>
          <p:cNvSpPr txBox="1"/>
          <p:nvPr/>
        </p:nvSpPr>
        <p:spPr>
          <a:xfrm>
            <a:off x="4480560" y="4681728"/>
            <a:ext cx="3200400" cy="1554480"/>
          </a:xfrm>
          <a:prstGeom prst="rect">
            <a:avLst/>
          </a:prstGeom>
          <a:noFill/>
          <a:ln/>
        </p:spPr>
        <p:txBody>
          <a:bodyPr wrap="square" lIns="0" tIns="0" rIns="0" bIns="0" rtlCol="0" anchor="t"/>
          <a:lstStyle/>
          <a:p>
            <a:pPr marL="0" indent="0">
              <a:buNone/>
            </a:pPr>
            <a:r>
              <a:rPr lang="en-US" sz="1050" dirty="0">
                <a:solidFill>
                  <a:srgbClr val="4A4A4A"/>
                </a:solidFill>
                <a:latin typeface="Calibri" pitchFamily="34" charset="0"/>
                <a:ea typeface="Calibri" pitchFamily="34" charset="-122"/>
                <a:cs typeface="Calibri" pitchFamily="34" charset="-120"/>
              </a:rPr>
              <a:t>Only cases with no risk level yet are scored, so a restart never re-spends calls. The database is committed after every batch, so if batch four fails, batches one to three are safe and a re-run picks up what is missing.</a:t>
            </a:r>
            <a:endParaRPr lang="en-US" sz="1050" dirty="0"/>
          </a:p>
        </p:txBody>
      </p:sp>
      <p:sp>
        <p:nvSpPr>
          <p:cNvPr id="21" name="Shape 18"/>
          <p:cNvSpPr/>
          <p:nvPr/>
        </p:nvSpPr>
        <p:spPr>
          <a:xfrm>
            <a:off x="8046720" y="4251960"/>
            <a:ext cx="3566160" cy="2011680"/>
          </a:xfrm>
          <a:prstGeom prst="roundRect">
            <a:avLst>
              <a:gd name="adj" fmla="val 2727"/>
            </a:avLst>
          </a:prstGeom>
          <a:solidFill>
            <a:srgbClr val="FFFFFF"/>
          </a:solidFill>
          <a:ln w="9525">
            <a:solidFill>
              <a:srgbClr val="F0DCCF"/>
            </a:solidFill>
            <a:prstDash val="solid"/>
          </a:ln>
        </p:spPr>
      </p:sp>
      <p:sp>
        <p:nvSpPr>
          <p:cNvPr id="22" name="Text 19"/>
          <p:cNvSpPr txBox="1"/>
          <p:nvPr/>
        </p:nvSpPr>
        <p:spPr>
          <a:xfrm>
            <a:off x="8229600" y="4370832"/>
            <a:ext cx="3200400" cy="292608"/>
          </a:xfrm>
          <a:prstGeom prst="rect">
            <a:avLst/>
          </a:prstGeom>
          <a:noFill/>
          <a:ln/>
        </p:spPr>
        <p:txBody>
          <a:bodyPr wrap="square" lIns="0" tIns="0" rIns="0" bIns="0" rtlCol="0" anchor="ctr"/>
          <a:lstStyle/>
          <a:p>
            <a:pPr marL="0" indent="0">
              <a:buNone/>
            </a:pPr>
            <a:r>
              <a:rPr lang="en-US" sz="1200" b="1" dirty="0">
                <a:solidFill>
                  <a:srgbClr val="7A1C3A"/>
                </a:solidFill>
                <a:latin typeface="Calibri" pitchFamily="34" charset="0"/>
                <a:ea typeface="Calibri" pitchFamily="34" charset="-122"/>
                <a:cs typeface="Calibri" pitchFamily="34" charset="-120"/>
              </a:rPr>
              <a:t>What the data model remembers</a:t>
            </a:r>
            <a:endParaRPr lang="en-US" sz="1200" dirty="0"/>
          </a:p>
        </p:txBody>
      </p:sp>
      <p:sp>
        <p:nvSpPr>
          <p:cNvPr id="23" name="Text 20"/>
          <p:cNvSpPr txBox="1"/>
          <p:nvPr/>
        </p:nvSpPr>
        <p:spPr>
          <a:xfrm>
            <a:off x="8229600" y="4681728"/>
            <a:ext cx="3200400" cy="1554480"/>
          </a:xfrm>
          <a:prstGeom prst="rect">
            <a:avLst/>
          </a:prstGeom>
          <a:noFill/>
          <a:ln/>
        </p:spPr>
        <p:txBody>
          <a:bodyPr wrap="square" lIns="0" tIns="0" rIns="0" bIns="0" rtlCol="0" anchor="t"/>
          <a:lstStyle/>
          <a:p>
            <a:pPr marL="0" indent="0">
              <a:buNone/>
            </a:pPr>
            <a:r>
              <a:rPr lang="en-US" sz="1050" dirty="0">
                <a:solidFill>
                  <a:srgbClr val="4A4A4A"/>
                </a:solidFill>
                <a:latin typeface="Calibri" pitchFamily="34" charset="0"/>
                <a:ea typeface="Calibri" pitchFamily="34" charset="-122"/>
                <a:cs typeface="Calibri" pitchFamily="34" charset="-120"/>
              </a:rPr>
              <a:t>One row per case keeps what came in, what the AI concluded, and what the human decided, side by side. A future audit can compare them directly. Chat transcripts live in their own table.</a:t>
            </a:r>
            <a:endParaRPr lang="en-US" sz="1050" dirty="0"/>
          </a:p>
        </p:txBody>
      </p:sp>
      <p:sp>
        <p:nvSpPr>
          <p:cNvPr id="24" name="Text 21"/>
          <p:cNvSpPr txBox="1"/>
          <p:nvPr/>
        </p:nvSpPr>
        <p:spPr>
          <a:xfrm>
            <a:off x="548640" y="6446520"/>
            <a:ext cx="11064240" cy="274320"/>
          </a:xfrm>
          <a:prstGeom prst="rect">
            <a:avLst/>
          </a:prstGeom>
          <a:noFill/>
          <a:ln/>
        </p:spPr>
        <p:txBody>
          <a:bodyPr wrap="square" lIns="0" tIns="0" rIns="0" bIns="0" rtlCol="0" anchor="ctr"/>
          <a:lstStyle/>
          <a:p>
            <a:pPr marL="0" indent="0" algn="r">
              <a:buNone/>
            </a:pPr>
            <a:r>
              <a:rPr lang="en-US" sz="900" dirty="0">
                <a:solidFill>
                  <a:srgbClr val="7A6A6E"/>
                </a:solidFill>
                <a:latin typeface="Calibri" pitchFamily="34" charset="0"/>
                <a:ea typeface="Calibri" pitchFamily="34" charset="-122"/>
                <a:cs typeface="Calibri" pitchFamily="34" charset="-120"/>
              </a:rPr>
              <a:t>Vraj Patel   |   SIU Fraud Investigation   |   4 of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7A1C3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I chose, and what it cost</a:t>
            </a:r>
            <a:endParaRPr lang="en-US" sz="28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marL="0" indent="0">
              <a:buNone/>
            </a:pPr>
            <a:r>
              <a:rPr lang="en-US" sz="1300" dirty="0">
                <a:solidFill>
                  <a:srgbClr val="E7C9B8"/>
                </a:solidFill>
                <a:latin typeface="Calibri" pitchFamily="34" charset="0"/>
                <a:ea typeface="Calibri" pitchFamily="34" charset="-122"/>
                <a:cs typeface="Calibri" pitchFamily="34" charset="-120"/>
              </a:rPr>
              <a:t>Decisions I would defend, and the risks I would want a reviewer to know about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9A2E4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buys</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9A2E4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costs</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9A2E4E"/>
                    </a:solidFill>
                  </a:tcPr>
                </a:tc>
                <a:extLst>
                  <a:ext uri="{0D108BD9-81ED-4DB2-BD59-A6C34878D82A}">
                    <a16:rowId xmlns:a16="http://schemas.microsoft.com/office/drawing/2014/main" val="10000"/>
                  </a:ext>
                </a:extLst>
              </a:tr>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One grounded call, not agents</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Cheaper, faster, easy to audit</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Less impressive on paper</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extLst>
                  <a:ext uri="{0D108BD9-81ED-4DB2-BD59-A6C34878D82A}">
                    <a16:rowId xmlns:a16="http://schemas.microsoft.com/office/drawing/2014/main" val="10001"/>
                  </a:ext>
                </a:extLst>
              </a:tr>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Ten cases per call</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5E1430"/>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Five calls for the queue, stays under quota</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5E1430"/>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One bad response can touch ten cases; per-batch commit limits the damage</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5E1430"/>
                    </a:solidFill>
                  </a:tcPr>
                </a:tc>
                <a:extLst>
                  <a:ext uri="{0D108BD9-81ED-4DB2-BD59-A6C34878D82A}">
                    <a16:rowId xmlns:a16="http://schemas.microsoft.com/office/drawing/2014/main" val="10002"/>
                  </a:ext>
                </a:extLst>
              </a:tr>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The model assigns risk</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Reasons about combinations of signals</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Some drift between runs; a hybrid scorer is the next step</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extLst>
                  <a:ext uri="{0D108BD9-81ED-4DB2-BD59-A6C34878D82A}">
                    <a16:rowId xmlns:a16="http://schemas.microsoft.com/office/drawing/2014/main" val="10003"/>
                  </a:ext>
                </a:extLst>
              </a:tr>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Scoring at startup</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5E1430"/>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No extra infrastructure</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5E1430"/>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First boot waits about thirty seconds; will not scale as is</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5E1430"/>
                    </a:solidFill>
                  </a:tcPr>
                </a:tc>
                <a:extLst>
                  <a:ext uri="{0D108BD9-81ED-4DB2-BD59-A6C34878D82A}">
                    <a16:rowId xmlns:a16="http://schemas.microsoft.com/office/drawing/2014/main" val="10004"/>
                  </a:ext>
                </a:extLst>
              </a:tr>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Off-the-shelf chat history</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Five lines of code, one database</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tc>
                  <a:txBody>
                    <a:bodyPr/>
                    <a:lstStyle/>
                    <a:p>
                      <a:pPr marL="0" indent="0">
                        <a:buNone/>
                      </a:pPr>
                      <a:r>
                        <a:rPr lang="en-US" sz="1050" dirty="0">
                          <a:solidFill>
                            <a:srgbClr val="F5E6DA"/>
                          </a:solidFill>
                          <a:latin typeface="Calibri" pitchFamily="34" charset="0"/>
                          <a:ea typeface="Calibri" pitchFamily="34" charset="-122"/>
                          <a:cs typeface="Calibri" pitchFamily="34" charset="-120"/>
                        </a:rPr>
                        <a:t>UUID session key, one shared connection; replace before production</a:t>
                      </a:r>
                      <a:endParaRPr lang="en-US" sz="1050" dirty="0">
                        <a:latin typeface="Calibri" charset="0"/>
                        <a:ea typeface="Calibri" charset="0"/>
                        <a:cs typeface="Calibri" charset="0"/>
                      </a:endParaRPr>
                    </a:p>
                  </a:txBody>
                  <a:tcPr marL="54864" marR="54864" marT="54864" marB="54864">
                    <a:lnL w="6350" cap="flat" cmpd="sng" algn="ctr">
                      <a:solidFill>
                        <a:srgbClr val="A84A66"/>
                      </a:solidFill>
                      <a:prstDash val="solid"/>
                      <a:round/>
                      <a:headEnd type="none" w="med" len="med"/>
                      <a:tailEnd type="none" w="med" len="med"/>
                    </a:lnL>
                    <a:lnR w="6350" cap="flat" cmpd="sng" algn="ctr">
                      <a:solidFill>
                        <a:srgbClr val="A84A66"/>
                      </a:solidFill>
                      <a:prstDash val="solid"/>
                      <a:round/>
                      <a:headEnd type="none" w="med" len="med"/>
                      <a:tailEnd type="none" w="med" len="med"/>
                    </a:lnR>
                    <a:lnT w="6350" cap="flat" cmpd="sng" algn="ctr">
                      <a:solidFill>
                        <a:srgbClr val="A84A66"/>
                      </a:solidFill>
                      <a:prstDash val="solid"/>
                      <a:round/>
                      <a:headEnd type="none" w="med" len="med"/>
                      <a:tailEnd type="none" w="med" len="med"/>
                    </a:lnT>
                    <a:lnB w="6350" cap="flat" cmpd="sng" algn="ctr">
                      <a:solidFill>
                        <a:srgbClr val="A84A66"/>
                      </a:solidFill>
                      <a:prstDash val="solid"/>
                      <a:round/>
                      <a:headEnd type="none" w="med" len="med"/>
                      <a:tailEnd type="none" w="med" len="med"/>
                    </a:lnB>
                    <a:solidFill>
                      <a:srgbClr val="7A1C3A"/>
                    </a:solidFill>
                  </a:tcPr>
                </a:tc>
                <a:extLst>
                  <a:ext uri="{0D108BD9-81ED-4DB2-BD59-A6C34878D82A}">
                    <a16:rowId xmlns:a16="http://schemas.microsoft.com/office/drawing/2014/main" val="10005"/>
                  </a:ext>
                </a:extLst>
              </a:tr>
            </a:tbl>
          </a:graphicData>
        </a:graphic>
      </p:graphicFrame>
      <p:sp>
        <p:nvSpPr>
          <p:cNvPr id="5" name="Shape 2"/>
          <p:cNvSpPr/>
          <p:nvPr/>
        </p:nvSpPr>
        <p:spPr>
          <a:xfrm>
            <a:off x="7680960" y="1463040"/>
            <a:ext cx="3977640" cy="4846320"/>
          </a:xfrm>
          <a:prstGeom prst="roundRect">
            <a:avLst>
              <a:gd name="adj" fmla="val 1379"/>
            </a:avLst>
          </a:prstGeom>
          <a:solidFill>
            <a:srgbClr val="FFFFFF"/>
          </a:solidFill>
          <a:ln w="9525">
            <a:solidFill>
              <a:srgbClr val="FFFFFF"/>
            </a:solidFill>
            <a:prstDash val="solid"/>
          </a:ln>
        </p:spPr>
      </p:sp>
      <p:sp>
        <p:nvSpPr>
          <p:cNvPr id="4" name="Text 3"/>
          <p:cNvSpPr txBox="1"/>
          <p:nvPr/>
        </p:nvSpPr>
        <p:spPr>
          <a:xfrm>
            <a:off x="7909560" y="1600200"/>
            <a:ext cx="3566160" cy="292608"/>
          </a:xfrm>
          <a:prstGeom prst="rect">
            <a:avLst/>
          </a:prstGeom>
          <a:noFill/>
          <a:ln/>
        </p:spPr>
        <p:txBody>
          <a:bodyPr wrap="square" lIns="0" tIns="0" rIns="0" bIns="0" rtlCol="0" anchor="ctr"/>
          <a:lstStyle/>
          <a:p>
            <a:pPr marL="0" indent="0">
              <a:buNone/>
            </a:pPr>
            <a:r>
              <a:rPr lang="en-US" sz="1300" b="1" dirty="0">
                <a:solidFill>
                  <a:srgbClr val="E4572E"/>
                </a:solidFill>
                <a:latin typeface="Calibri" pitchFamily="34" charset="0"/>
                <a:ea typeface="Calibri" pitchFamily="34" charset="-122"/>
                <a:cs typeface="Calibri" pitchFamily="34" charset="-120"/>
              </a:rPr>
              <a:t>Risks I see</a:t>
            </a:r>
            <a:endParaRPr lang="en-US" sz="1300" dirty="0"/>
          </a:p>
        </p:txBody>
      </p:sp>
      <p:sp>
        <p:nvSpPr>
          <p:cNvPr id="7" name="Text 4"/>
          <p:cNvSpPr txBox="1"/>
          <p:nvPr/>
        </p:nvSpPr>
        <p:spPr>
          <a:xfrm>
            <a:off x="7909560" y="1965960"/>
            <a:ext cx="3566160" cy="292608"/>
          </a:xfrm>
          <a:prstGeom prst="rect">
            <a:avLst/>
          </a:prstGeom>
          <a:noFill/>
          <a:ln/>
        </p:spPr>
        <p:txBody>
          <a:bodyPr wrap="square" lIns="0" tIns="0" rIns="0" bIns="0" rtlCol="0" anchor="ctr"/>
          <a:lstStyle/>
          <a:p>
            <a:pPr marL="0" indent="0">
              <a:buNone/>
            </a:pPr>
            <a:r>
              <a:rPr lang="en-US" sz="1200" b="1" dirty="0">
                <a:solidFill>
                  <a:srgbClr val="1A0F12"/>
                </a:solidFill>
                <a:latin typeface="Calibri" pitchFamily="34" charset="0"/>
                <a:ea typeface="Calibri" pitchFamily="34" charset="-122"/>
                <a:cs typeface="Calibri" pitchFamily="34" charset="-120"/>
              </a:rPr>
              <a:t>Accuracy</a:t>
            </a:r>
            <a:endParaRPr lang="en-US" sz="1200" dirty="0"/>
          </a:p>
        </p:txBody>
      </p:sp>
      <p:sp>
        <p:nvSpPr>
          <p:cNvPr id="8" name="Text 5"/>
          <p:cNvSpPr txBox="1"/>
          <p:nvPr/>
        </p:nvSpPr>
        <p:spPr>
          <a:xfrm>
            <a:off x="7909560" y="2240280"/>
            <a:ext cx="3566160" cy="731520"/>
          </a:xfrm>
          <a:prstGeom prst="rect">
            <a:avLst/>
          </a:prstGeom>
          <a:noFill/>
          <a:ln/>
        </p:spPr>
        <p:txBody>
          <a:bodyPr wrap="square" lIns="0" tIns="0" rIns="0" bIns="0" rtlCol="0" anchor="t"/>
          <a:lstStyle/>
          <a:p>
            <a:pPr marL="0" indent="0">
              <a:buNone/>
            </a:pPr>
            <a:r>
              <a:rPr lang="en-US" sz="1000" dirty="0">
                <a:solidFill>
                  <a:srgbClr val="4A4A4A"/>
                </a:solidFill>
                <a:latin typeface="Calibri" pitchFamily="34" charset="0"/>
                <a:ea typeface="Calibri" pitchFamily="34" charset="-122"/>
                <a:cs typeface="Calibri" pitchFamily="34" charset="-120"/>
              </a:rPr>
              <a:t>There is no labelled ground truth, so the risk level is judgement, not a validated score. The evaluation loop on the next slide is how that changes.</a:t>
            </a:r>
            <a:endParaRPr lang="en-US" sz="1000" dirty="0"/>
          </a:p>
        </p:txBody>
      </p:sp>
      <p:sp>
        <p:nvSpPr>
          <p:cNvPr id="9" name="Text 6"/>
          <p:cNvSpPr txBox="1"/>
          <p:nvPr/>
        </p:nvSpPr>
        <p:spPr>
          <a:xfrm>
            <a:off x="7909560" y="3017520"/>
            <a:ext cx="3566160" cy="292608"/>
          </a:xfrm>
          <a:prstGeom prst="rect">
            <a:avLst/>
          </a:prstGeom>
          <a:noFill/>
          <a:ln/>
        </p:spPr>
        <p:txBody>
          <a:bodyPr wrap="square" lIns="0" tIns="0" rIns="0" bIns="0" rtlCol="0" anchor="ctr"/>
          <a:lstStyle/>
          <a:p>
            <a:pPr marL="0" indent="0">
              <a:buNone/>
            </a:pPr>
            <a:r>
              <a:rPr lang="en-US" sz="1200" b="1" dirty="0">
                <a:solidFill>
                  <a:srgbClr val="1A0F12"/>
                </a:solidFill>
                <a:latin typeface="Calibri" pitchFamily="34" charset="0"/>
                <a:ea typeface="Calibri" pitchFamily="34" charset="-122"/>
                <a:cs typeface="Calibri" pitchFamily="34" charset="-120"/>
              </a:rPr>
              <a:t>Over-trusting the AI</a:t>
            </a:r>
            <a:endParaRPr lang="en-US" sz="1200" dirty="0"/>
          </a:p>
        </p:txBody>
      </p:sp>
      <p:sp>
        <p:nvSpPr>
          <p:cNvPr id="10" name="Text 7"/>
          <p:cNvSpPr txBox="1"/>
          <p:nvPr/>
        </p:nvSpPr>
        <p:spPr>
          <a:xfrm>
            <a:off x="7909560" y="3291840"/>
            <a:ext cx="3566160" cy="731520"/>
          </a:xfrm>
          <a:prstGeom prst="rect">
            <a:avLst/>
          </a:prstGeom>
          <a:noFill/>
          <a:ln/>
        </p:spPr>
        <p:txBody>
          <a:bodyPr wrap="square" lIns="0" tIns="0" rIns="0" bIns="0" rtlCol="0" anchor="t"/>
          <a:lstStyle/>
          <a:p>
            <a:pPr marL="0" indent="0">
              <a:buNone/>
            </a:pPr>
            <a:r>
              <a:rPr lang="en-US" sz="1000" dirty="0">
                <a:solidFill>
                  <a:srgbClr val="4A4A4A"/>
                </a:solidFill>
                <a:latin typeface="Calibri" pitchFamily="34" charset="0"/>
                <a:ea typeface="Calibri" pitchFamily="34" charset="-122"/>
                <a:cs typeface="Calibri" pitchFamily="34" charset="-120"/>
              </a:rPr>
              <a:t>A confident overview can be accepted too easily. That is why confidence is a badge, evidence is cited, and the raw numbers are on the same screen.</a:t>
            </a:r>
            <a:endParaRPr lang="en-US" sz="1000" dirty="0"/>
          </a:p>
        </p:txBody>
      </p:sp>
      <p:sp>
        <p:nvSpPr>
          <p:cNvPr id="11" name="Text 8"/>
          <p:cNvSpPr txBox="1"/>
          <p:nvPr/>
        </p:nvSpPr>
        <p:spPr>
          <a:xfrm>
            <a:off x="7909560" y="4069080"/>
            <a:ext cx="3566160" cy="292608"/>
          </a:xfrm>
          <a:prstGeom prst="rect">
            <a:avLst/>
          </a:prstGeom>
          <a:noFill/>
          <a:ln/>
        </p:spPr>
        <p:txBody>
          <a:bodyPr wrap="square" lIns="0" tIns="0" rIns="0" bIns="0" rtlCol="0" anchor="ctr"/>
          <a:lstStyle/>
          <a:p>
            <a:pPr marL="0" indent="0">
              <a:buNone/>
            </a:pPr>
            <a:r>
              <a:rPr lang="en-US" sz="1200" b="1" dirty="0">
                <a:solidFill>
                  <a:srgbClr val="1A0F12"/>
                </a:solidFill>
                <a:latin typeface="Calibri" pitchFamily="34" charset="0"/>
                <a:ea typeface="Calibri" pitchFamily="34" charset="-122"/>
                <a:cs typeface="Calibri" pitchFamily="34" charset="-120"/>
              </a:rPr>
              <a:t>Cost and latency</a:t>
            </a:r>
            <a:endParaRPr lang="en-US" sz="1200" dirty="0"/>
          </a:p>
        </p:txBody>
      </p:sp>
      <p:sp>
        <p:nvSpPr>
          <p:cNvPr id="12" name="Text 9"/>
          <p:cNvSpPr txBox="1"/>
          <p:nvPr/>
        </p:nvSpPr>
        <p:spPr>
          <a:xfrm>
            <a:off x="7909560" y="4343400"/>
            <a:ext cx="3566160" cy="731520"/>
          </a:xfrm>
          <a:prstGeom prst="rect">
            <a:avLst/>
          </a:prstGeom>
          <a:noFill/>
          <a:ln/>
        </p:spPr>
        <p:txBody>
          <a:bodyPr wrap="square" lIns="0" tIns="0" rIns="0" bIns="0" rtlCol="0" anchor="t"/>
          <a:lstStyle/>
          <a:p>
            <a:pPr marL="0" indent="0">
              <a:buNone/>
            </a:pPr>
            <a:r>
              <a:rPr lang="en-US" sz="1000" dirty="0">
                <a:solidFill>
                  <a:srgbClr val="4A4A4A"/>
                </a:solidFill>
                <a:latin typeface="Calibri" pitchFamily="34" charset="0"/>
                <a:ea typeface="Calibri" pitchFamily="34" charset="-122"/>
                <a:cs typeface="Calibri" pitchFamily="34" charset="-120"/>
              </a:rPr>
              <a:t>Negligible at fifty cases. At thousands a day the startup design has to become a queue.</a:t>
            </a:r>
            <a:endParaRPr lang="en-US" sz="1000" dirty="0"/>
          </a:p>
        </p:txBody>
      </p:sp>
      <p:sp>
        <p:nvSpPr>
          <p:cNvPr id="13" name="Text 10"/>
          <p:cNvSpPr txBox="1"/>
          <p:nvPr/>
        </p:nvSpPr>
        <p:spPr>
          <a:xfrm>
            <a:off x="7909560" y="5120640"/>
            <a:ext cx="3566160" cy="292608"/>
          </a:xfrm>
          <a:prstGeom prst="rect">
            <a:avLst/>
          </a:prstGeom>
          <a:noFill/>
          <a:ln/>
        </p:spPr>
        <p:txBody>
          <a:bodyPr wrap="square" lIns="0" tIns="0" rIns="0" bIns="0" rtlCol="0" anchor="ctr"/>
          <a:lstStyle/>
          <a:p>
            <a:pPr marL="0" indent="0">
              <a:buNone/>
            </a:pPr>
            <a:r>
              <a:rPr lang="en-US" sz="1200" b="1" dirty="0">
                <a:solidFill>
                  <a:srgbClr val="1A0F12"/>
                </a:solidFill>
                <a:latin typeface="Calibri" pitchFamily="34" charset="0"/>
                <a:ea typeface="Calibri" pitchFamily="34" charset="-122"/>
                <a:cs typeface="Calibri" pitchFamily="34" charset="-120"/>
              </a:rPr>
              <a:t>Abuse and data</a:t>
            </a:r>
            <a:endParaRPr lang="en-US" sz="1200" dirty="0"/>
          </a:p>
        </p:txBody>
      </p:sp>
      <p:sp>
        <p:nvSpPr>
          <p:cNvPr id="14" name="Text 11"/>
          <p:cNvSpPr txBox="1"/>
          <p:nvPr/>
        </p:nvSpPr>
        <p:spPr>
          <a:xfrm>
            <a:off x="7909560" y="5394960"/>
            <a:ext cx="3566160" cy="731520"/>
          </a:xfrm>
          <a:prstGeom prst="rect">
            <a:avLst/>
          </a:prstGeom>
          <a:noFill/>
          <a:ln/>
        </p:spPr>
        <p:txBody>
          <a:bodyPr wrap="square" lIns="0" tIns="0" rIns="0" bIns="0" rtlCol="0" anchor="t"/>
          <a:lstStyle/>
          <a:p>
            <a:pPr marL="0" indent="0">
              <a:buNone/>
            </a:pPr>
            <a:r>
              <a:rPr lang="en-US" sz="1000" dirty="0">
                <a:solidFill>
                  <a:srgbClr val="4A4A4A"/>
                </a:solidFill>
                <a:latin typeface="Calibri" pitchFamily="34" charset="0"/>
                <a:ea typeface="Calibri" pitchFamily="34" charset="-122"/>
                <a:cs typeface="Calibri" pitchFamily="34" charset="-120"/>
              </a:rPr>
              <a:t>Chat input reaches the model directly, so prompt injection is possible. Real data will need PII minimisation before any third-party call.</a:t>
            </a:r>
            <a:endParaRPr lang="en-US" sz="1000" dirty="0"/>
          </a:p>
        </p:txBody>
      </p:sp>
      <p:sp>
        <p:nvSpPr>
          <p:cNvPr id="15" name="Text 12"/>
          <p:cNvSpPr txBox="1"/>
          <p:nvPr/>
        </p:nvSpPr>
        <p:spPr>
          <a:xfrm>
            <a:off x="548640" y="6446520"/>
            <a:ext cx="11064240" cy="274320"/>
          </a:xfrm>
          <a:prstGeom prst="rect">
            <a:avLst/>
          </a:prstGeom>
          <a:noFill/>
          <a:ln/>
        </p:spPr>
        <p:txBody>
          <a:bodyPr wrap="square" lIns="0" tIns="0" rIns="0" bIns="0" rtlCol="0" anchor="ctr"/>
          <a:lstStyle/>
          <a:p>
            <a:pPr marL="0" indent="0" algn="r">
              <a:buNone/>
            </a:pPr>
            <a:r>
              <a:rPr lang="en-US" sz="900" dirty="0">
                <a:solidFill>
                  <a:srgbClr val="D9AFA0"/>
                </a:solidFill>
                <a:latin typeface="Calibri" pitchFamily="34" charset="0"/>
                <a:ea typeface="Calibri" pitchFamily="34" charset="-122"/>
                <a:cs typeface="Calibri" pitchFamily="34" charset="-120"/>
              </a:rPr>
              <a:t>Vraj Patel   |   SIU Fraud Investigation   |   5 of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7A1C3A"/>
                </a:solidFill>
                <a:latin typeface="Cambria" pitchFamily="34" charset="0"/>
                <a:ea typeface="Cambria" pitchFamily="34" charset="-122"/>
                <a:cs typeface="Cambria" pitchFamily="34" charset="-120"/>
              </a:rPr>
              <a:t>What I would build next</a:t>
            </a:r>
            <a:endParaRPr lang="en-US" sz="2800" dirty="0"/>
          </a:p>
        </p:txBody>
      </p:sp>
      <p:sp>
        <p:nvSpPr>
          <p:cNvPr id="3" name="Text 1"/>
          <p:cNvSpPr txBox="1"/>
          <p:nvPr/>
        </p:nvSpPr>
        <p:spPr>
          <a:xfrm>
            <a:off x="548640" y="960120"/>
            <a:ext cx="11064240" cy="320040"/>
          </a:xfrm>
          <a:prstGeom prst="rect">
            <a:avLst/>
          </a:prstGeom>
          <a:noFill/>
          <a:ln/>
        </p:spPr>
        <p:txBody>
          <a:bodyPr wrap="square" lIns="0" tIns="0" rIns="0" bIns="0" rtlCol="0" anchor="ctr"/>
          <a:lstStyle/>
          <a:p>
            <a:pPr marL="0" indent="0">
              <a:buNone/>
            </a:pPr>
            <a:r>
              <a:rPr lang="en-US" sz="1300" dirty="0">
                <a:solidFill>
                  <a:srgbClr val="7A6A6E"/>
                </a:solidFill>
                <a:latin typeface="Calibri" pitchFamily="34" charset="0"/>
                <a:ea typeface="Calibri" pitchFamily="34" charset="-122"/>
                <a:cs typeface="Calibri" pitchFamily="34" charset="-120"/>
              </a:rPr>
              <a:t>Five steps, in order, to run this on a real daily queue for a large team</a:t>
            </a:r>
            <a:endParaRPr lang="en-US" sz="1300" dirty="0"/>
          </a:p>
        </p:txBody>
      </p:sp>
      <p:sp>
        <p:nvSpPr>
          <p:cNvPr id="4" name="Shape 2"/>
          <p:cNvSpPr/>
          <p:nvPr/>
        </p:nvSpPr>
        <p:spPr>
          <a:xfrm>
            <a:off x="548640" y="1463040"/>
            <a:ext cx="7315200" cy="694944"/>
          </a:xfrm>
          <a:prstGeom prst="roundRect">
            <a:avLst>
              <a:gd name="adj" fmla="val 7895"/>
            </a:avLst>
          </a:prstGeom>
          <a:solidFill>
            <a:srgbClr val="FFFFFF"/>
          </a:solidFill>
          <a:ln w="9525">
            <a:solidFill>
              <a:srgbClr val="F0DCCF"/>
            </a:solidFill>
            <a:prstDash val="solid"/>
          </a:ln>
        </p:spPr>
      </p:sp>
      <p:sp>
        <p:nvSpPr>
          <p:cNvPr id="5" name="Text 3"/>
          <p:cNvSpPr txBox="1"/>
          <p:nvPr/>
        </p:nvSpPr>
        <p:spPr>
          <a:xfrm>
            <a:off x="685800" y="1572768"/>
            <a:ext cx="457200" cy="457200"/>
          </a:xfrm>
          <a:prstGeom prst="rect">
            <a:avLst/>
          </a:prstGeom>
          <a:noFill/>
          <a:ln/>
        </p:spPr>
        <p:txBody>
          <a:bodyPr wrap="square" lIns="0" tIns="0" rIns="0" bIns="0" rtlCol="0" anchor="ctr"/>
          <a:lstStyle/>
          <a:p>
            <a:pPr marL="0" indent="0" algn="ctr">
              <a:buNone/>
            </a:pPr>
            <a:r>
              <a:rPr lang="en-US" sz="2200" b="1" dirty="0">
                <a:solidFill>
                  <a:srgbClr val="E4572E"/>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234440" y="1527048"/>
            <a:ext cx="6492240" cy="256032"/>
          </a:xfrm>
          <a:prstGeom prst="rect">
            <a:avLst/>
          </a:prstGeom>
          <a:noFill/>
          <a:ln/>
        </p:spPr>
        <p:txBody>
          <a:bodyPr wrap="square" lIns="0" tIns="0" rIns="0" bIns="0" rtlCol="0" anchor="ctr"/>
          <a:lstStyle/>
          <a:p>
            <a:pPr marL="0" indent="0">
              <a:buNone/>
            </a:pPr>
            <a:r>
              <a:rPr lang="en-US" sz="1300" b="1" dirty="0">
                <a:solidFill>
                  <a:srgbClr val="1A0F12"/>
                </a:solidFill>
                <a:latin typeface="Calibri" pitchFamily="34" charset="0"/>
                <a:ea typeface="Calibri" pitchFamily="34" charset="-122"/>
                <a:cs typeface="Calibri" pitchFamily="34" charset="-120"/>
              </a:rPr>
              <a:t>Move scoring to a background worker</a:t>
            </a:r>
            <a:endParaRPr lang="en-US" sz="1300" dirty="0"/>
          </a:p>
        </p:txBody>
      </p:sp>
      <p:sp>
        <p:nvSpPr>
          <p:cNvPr id="7" name="Text 5"/>
          <p:cNvSpPr txBox="1"/>
          <p:nvPr/>
        </p:nvSpPr>
        <p:spPr>
          <a:xfrm>
            <a:off x="1234440" y="1773936"/>
            <a:ext cx="6492240" cy="384048"/>
          </a:xfrm>
          <a:prstGeom prst="rect">
            <a:avLst/>
          </a:prstGeom>
          <a:noFill/>
          <a:ln/>
        </p:spPr>
        <p:txBody>
          <a:bodyPr wrap="square" lIns="0" tIns="0" rIns="0" bIns="0" rtlCol="0" anchor="t"/>
          <a:lstStyle/>
          <a:p>
            <a:pPr marL="0" indent="0">
              <a:buNone/>
            </a:pPr>
            <a:r>
              <a:rPr lang="en-US" sz="980" dirty="0">
                <a:solidFill>
                  <a:srgbClr val="4A4A4A"/>
                </a:solidFill>
                <a:latin typeface="Calibri" pitchFamily="34" charset="0"/>
                <a:ea typeface="Calibri" pitchFamily="34" charset="-122"/>
                <a:cs typeface="Calibri" pitchFamily="34" charset="-120"/>
              </a:rPr>
              <a:t>Each claim becomes a retryable job, batched and rate-limited, so scoring never blocks the investigator's screen.</a:t>
            </a:r>
            <a:endParaRPr lang="en-US" sz="980" dirty="0"/>
          </a:p>
        </p:txBody>
      </p:sp>
      <p:sp>
        <p:nvSpPr>
          <p:cNvPr id="8" name="Shape 6"/>
          <p:cNvSpPr/>
          <p:nvPr/>
        </p:nvSpPr>
        <p:spPr>
          <a:xfrm>
            <a:off x="548640" y="2249424"/>
            <a:ext cx="7315200" cy="694944"/>
          </a:xfrm>
          <a:prstGeom prst="roundRect">
            <a:avLst>
              <a:gd name="adj" fmla="val 7895"/>
            </a:avLst>
          </a:prstGeom>
          <a:solidFill>
            <a:srgbClr val="FFFFFF"/>
          </a:solidFill>
          <a:ln w="9525">
            <a:solidFill>
              <a:srgbClr val="F0DCCF"/>
            </a:solidFill>
            <a:prstDash val="solid"/>
          </a:ln>
        </p:spPr>
      </p:sp>
      <p:sp>
        <p:nvSpPr>
          <p:cNvPr id="9" name="Text 7"/>
          <p:cNvSpPr txBox="1"/>
          <p:nvPr/>
        </p:nvSpPr>
        <p:spPr>
          <a:xfrm>
            <a:off x="685800" y="2359152"/>
            <a:ext cx="457200" cy="457200"/>
          </a:xfrm>
          <a:prstGeom prst="rect">
            <a:avLst/>
          </a:prstGeom>
          <a:noFill/>
          <a:ln/>
        </p:spPr>
        <p:txBody>
          <a:bodyPr wrap="square" lIns="0" tIns="0" rIns="0" bIns="0" rtlCol="0" anchor="ctr"/>
          <a:lstStyle/>
          <a:p>
            <a:pPr marL="0" indent="0" algn="ctr">
              <a:buNone/>
            </a:pPr>
            <a:r>
              <a:rPr lang="en-US" sz="2200" b="1" dirty="0">
                <a:solidFill>
                  <a:srgbClr val="E4572E"/>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1234440" y="2313432"/>
            <a:ext cx="6492240" cy="256032"/>
          </a:xfrm>
          <a:prstGeom prst="rect">
            <a:avLst/>
          </a:prstGeom>
          <a:noFill/>
          <a:ln/>
        </p:spPr>
        <p:txBody>
          <a:bodyPr wrap="square" lIns="0" tIns="0" rIns="0" bIns="0" rtlCol="0" anchor="ctr"/>
          <a:lstStyle/>
          <a:p>
            <a:pPr marL="0" indent="0">
              <a:buNone/>
            </a:pPr>
            <a:r>
              <a:rPr lang="en-US" sz="1300" b="1" dirty="0">
                <a:solidFill>
                  <a:srgbClr val="1A0F12"/>
                </a:solidFill>
                <a:latin typeface="Calibri" pitchFamily="34" charset="0"/>
                <a:ea typeface="Calibri" pitchFamily="34" charset="-122"/>
                <a:cs typeface="Calibri" pitchFamily="34" charset="-120"/>
              </a:rPr>
              <a:t>Close the loop with an evaluation set</a:t>
            </a:r>
            <a:endParaRPr lang="en-US" sz="1300" dirty="0"/>
          </a:p>
        </p:txBody>
      </p:sp>
      <p:sp>
        <p:nvSpPr>
          <p:cNvPr id="11" name="Text 9"/>
          <p:cNvSpPr txBox="1"/>
          <p:nvPr/>
        </p:nvSpPr>
        <p:spPr>
          <a:xfrm>
            <a:off x="1234440" y="2560320"/>
            <a:ext cx="6492240" cy="384048"/>
          </a:xfrm>
          <a:prstGeom prst="rect">
            <a:avLst/>
          </a:prstGeom>
          <a:noFill/>
          <a:ln/>
        </p:spPr>
        <p:txBody>
          <a:bodyPr wrap="square" lIns="0" tIns="0" rIns="0" bIns="0" rtlCol="0" anchor="t"/>
          <a:lstStyle/>
          <a:p>
            <a:pPr marL="0" indent="0">
              <a:buNone/>
            </a:pPr>
            <a:r>
              <a:rPr lang="en-US" sz="980" dirty="0">
                <a:solidFill>
                  <a:srgbClr val="4A4A4A"/>
                </a:solidFill>
                <a:latin typeface="Calibri" pitchFamily="34" charset="0"/>
                <a:ea typeface="Calibri" pitchFamily="34" charset="-122"/>
                <a:cs typeface="Calibri" pitchFamily="34" charset="-120"/>
              </a:rPr>
              <a:t>Every escalate or dismiss the investigator records is a label. Track agreement with the AI, precision on escalations and time to decision, and run a fixed regression set before any prompt or model change. Trace every call.</a:t>
            </a:r>
            <a:endParaRPr lang="en-US" sz="980" dirty="0"/>
          </a:p>
        </p:txBody>
      </p:sp>
      <p:sp>
        <p:nvSpPr>
          <p:cNvPr id="12" name="Shape 10"/>
          <p:cNvSpPr/>
          <p:nvPr/>
        </p:nvSpPr>
        <p:spPr>
          <a:xfrm>
            <a:off x="548640" y="3035808"/>
            <a:ext cx="7315200" cy="694944"/>
          </a:xfrm>
          <a:prstGeom prst="roundRect">
            <a:avLst>
              <a:gd name="adj" fmla="val 7895"/>
            </a:avLst>
          </a:prstGeom>
          <a:solidFill>
            <a:srgbClr val="FFFFFF"/>
          </a:solidFill>
          <a:ln w="9525">
            <a:solidFill>
              <a:srgbClr val="F0DCCF"/>
            </a:solidFill>
            <a:prstDash val="solid"/>
          </a:ln>
        </p:spPr>
      </p:sp>
      <p:sp>
        <p:nvSpPr>
          <p:cNvPr id="13" name="Text 11"/>
          <p:cNvSpPr txBox="1"/>
          <p:nvPr/>
        </p:nvSpPr>
        <p:spPr>
          <a:xfrm>
            <a:off x="685800" y="3145536"/>
            <a:ext cx="457200" cy="457200"/>
          </a:xfrm>
          <a:prstGeom prst="rect">
            <a:avLst/>
          </a:prstGeom>
          <a:noFill/>
          <a:ln/>
        </p:spPr>
        <p:txBody>
          <a:bodyPr wrap="square" lIns="0" tIns="0" rIns="0" bIns="0" rtlCol="0" anchor="ctr"/>
          <a:lstStyle/>
          <a:p>
            <a:pPr marL="0" indent="0" algn="ctr">
              <a:buNone/>
            </a:pPr>
            <a:r>
              <a:rPr lang="en-US" sz="2200" b="1" dirty="0">
                <a:solidFill>
                  <a:srgbClr val="7A1C3A"/>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234440" y="3099816"/>
            <a:ext cx="6492240" cy="256032"/>
          </a:xfrm>
          <a:prstGeom prst="rect">
            <a:avLst/>
          </a:prstGeom>
          <a:noFill/>
          <a:ln/>
        </p:spPr>
        <p:txBody>
          <a:bodyPr wrap="square" lIns="0" tIns="0" rIns="0" bIns="0" rtlCol="0" anchor="ctr"/>
          <a:lstStyle/>
          <a:p>
            <a:pPr marL="0" indent="0">
              <a:buNone/>
            </a:pPr>
            <a:r>
              <a:rPr lang="en-US" sz="1300" b="1" dirty="0">
                <a:solidFill>
                  <a:srgbClr val="1A0F12"/>
                </a:solidFill>
                <a:latin typeface="Calibri" pitchFamily="34" charset="0"/>
                <a:ea typeface="Calibri" pitchFamily="34" charset="-122"/>
                <a:cs typeface="Calibri" pitchFamily="34" charset="-120"/>
              </a:rPr>
              <a:t>Make it safe for many users</a:t>
            </a:r>
            <a:endParaRPr lang="en-US" sz="1300" dirty="0"/>
          </a:p>
        </p:txBody>
      </p:sp>
      <p:sp>
        <p:nvSpPr>
          <p:cNvPr id="15" name="Text 13"/>
          <p:cNvSpPr txBox="1"/>
          <p:nvPr/>
        </p:nvSpPr>
        <p:spPr>
          <a:xfrm>
            <a:off x="1234440" y="3346704"/>
            <a:ext cx="6492240" cy="384048"/>
          </a:xfrm>
          <a:prstGeom prst="rect">
            <a:avLst/>
          </a:prstGeom>
          <a:noFill/>
          <a:ln/>
        </p:spPr>
        <p:txBody>
          <a:bodyPr wrap="square" lIns="0" tIns="0" rIns="0" bIns="0" rtlCol="0" anchor="t"/>
          <a:lstStyle/>
          <a:p>
            <a:pPr marL="0" indent="0">
              <a:buNone/>
            </a:pPr>
            <a:r>
              <a:rPr lang="en-US" sz="980" dirty="0">
                <a:solidFill>
                  <a:srgbClr val="4A4A4A"/>
                </a:solidFill>
                <a:latin typeface="Calibri" pitchFamily="34" charset="0"/>
                <a:ea typeface="Calibri" pitchFamily="34" charset="-122"/>
                <a:cs typeface="Calibri" pitchFamily="34" charset="-120"/>
              </a:rPr>
              <a:t>Sign-in and roles, team queues, case assignment so two people never work the same file, optimistic locking on decisions, pooled database connections.</a:t>
            </a:r>
            <a:endParaRPr lang="en-US" sz="980" dirty="0"/>
          </a:p>
        </p:txBody>
      </p:sp>
      <p:sp>
        <p:nvSpPr>
          <p:cNvPr id="16" name="Shape 14"/>
          <p:cNvSpPr/>
          <p:nvPr/>
        </p:nvSpPr>
        <p:spPr>
          <a:xfrm>
            <a:off x="548640" y="3822192"/>
            <a:ext cx="7315200" cy="694944"/>
          </a:xfrm>
          <a:prstGeom prst="roundRect">
            <a:avLst>
              <a:gd name="adj" fmla="val 7895"/>
            </a:avLst>
          </a:prstGeom>
          <a:solidFill>
            <a:srgbClr val="FFFFFF"/>
          </a:solidFill>
          <a:ln w="9525">
            <a:solidFill>
              <a:srgbClr val="F0DCCF"/>
            </a:solidFill>
            <a:prstDash val="solid"/>
          </a:ln>
        </p:spPr>
      </p:sp>
      <p:sp>
        <p:nvSpPr>
          <p:cNvPr id="17" name="Text 15"/>
          <p:cNvSpPr txBox="1"/>
          <p:nvPr/>
        </p:nvSpPr>
        <p:spPr>
          <a:xfrm>
            <a:off x="685800" y="3931920"/>
            <a:ext cx="457200" cy="457200"/>
          </a:xfrm>
          <a:prstGeom prst="rect">
            <a:avLst/>
          </a:prstGeom>
          <a:noFill/>
          <a:ln/>
        </p:spPr>
        <p:txBody>
          <a:bodyPr wrap="square" lIns="0" tIns="0" rIns="0" bIns="0" rtlCol="0" anchor="ctr"/>
          <a:lstStyle/>
          <a:p>
            <a:pPr marL="0" indent="0" algn="ctr">
              <a:buNone/>
            </a:pPr>
            <a:r>
              <a:rPr lang="en-US" sz="2200" b="1" dirty="0">
                <a:solidFill>
                  <a:srgbClr val="7A1C3A"/>
                </a:solidFill>
                <a:latin typeface="Cambria" pitchFamily="34" charset="0"/>
                <a:ea typeface="Cambria" pitchFamily="34" charset="-122"/>
                <a:cs typeface="Cambria" pitchFamily="34" charset="-120"/>
              </a:rPr>
              <a:t>4</a:t>
            </a:r>
            <a:endParaRPr lang="en-US" sz="2200" dirty="0"/>
          </a:p>
        </p:txBody>
      </p:sp>
      <p:sp>
        <p:nvSpPr>
          <p:cNvPr id="18" name="Text 16"/>
          <p:cNvSpPr txBox="1"/>
          <p:nvPr/>
        </p:nvSpPr>
        <p:spPr>
          <a:xfrm>
            <a:off x="1234440" y="3886200"/>
            <a:ext cx="6492240" cy="256032"/>
          </a:xfrm>
          <a:prstGeom prst="rect">
            <a:avLst/>
          </a:prstGeom>
          <a:noFill/>
          <a:ln/>
        </p:spPr>
        <p:txBody>
          <a:bodyPr wrap="square" lIns="0" tIns="0" rIns="0" bIns="0" rtlCol="0" anchor="ctr"/>
          <a:lstStyle/>
          <a:p>
            <a:pPr marL="0" indent="0">
              <a:buNone/>
            </a:pPr>
            <a:r>
              <a:rPr lang="en-US" sz="1300" b="1" dirty="0">
                <a:solidFill>
                  <a:srgbClr val="1A0F12"/>
                </a:solidFill>
                <a:latin typeface="Calibri" pitchFamily="34" charset="0"/>
                <a:ea typeface="Calibri" pitchFamily="34" charset="-122"/>
                <a:cs typeface="Calibri" pitchFamily="34" charset="-120"/>
              </a:rPr>
              <a:t>Add guardrails and a model lifecycle</a:t>
            </a:r>
            <a:endParaRPr lang="en-US" sz="1300" dirty="0"/>
          </a:p>
        </p:txBody>
      </p:sp>
      <p:sp>
        <p:nvSpPr>
          <p:cNvPr id="19" name="Text 17"/>
          <p:cNvSpPr txBox="1"/>
          <p:nvPr/>
        </p:nvSpPr>
        <p:spPr>
          <a:xfrm>
            <a:off x="1234440" y="4133088"/>
            <a:ext cx="6492240" cy="384048"/>
          </a:xfrm>
          <a:prstGeom prst="rect">
            <a:avLst/>
          </a:prstGeom>
          <a:noFill/>
          <a:ln/>
        </p:spPr>
        <p:txBody>
          <a:bodyPr wrap="square" lIns="0" tIns="0" rIns="0" bIns="0" rtlCol="0" anchor="t"/>
          <a:lstStyle/>
          <a:p>
            <a:pPr marL="0" indent="0">
              <a:buNone/>
            </a:pPr>
            <a:r>
              <a:rPr lang="en-US" sz="980" dirty="0">
                <a:solidFill>
                  <a:srgbClr val="4A4A4A"/>
                </a:solidFill>
                <a:latin typeface="Calibri" pitchFamily="34" charset="0"/>
                <a:ea typeface="Calibri" pitchFamily="34" charset="-122"/>
                <a:cs typeface="Calibri" pitchFamily="34" charset="-120"/>
              </a:rPr>
              <a:t>Check that every cited driver names a real field and value, screen chat input, version the prompts, and keep a fallback model.</a:t>
            </a:r>
            <a:endParaRPr lang="en-US" sz="980" dirty="0"/>
          </a:p>
        </p:txBody>
      </p:sp>
      <p:sp>
        <p:nvSpPr>
          <p:cNvPr id="20" name="Shape 18"/>
          <p:cNvSpPr/>
          <p:nvPr/>
        </p:nvSpPr>
        <p:spPr>
          <a:xfrm>
            <a:off x="548640" y="4608576"/>
            <a:ext cx="7315200" cy="694944"/>
          </a:xfrm>
          <a:prstGeom prst="roundRect">
            <a:avLst>
              <a:gd name="adj" fmla="val 7895"/>
            </a:avLst>
          </a:prstGeom>
          <a:solidFill>
            <a:srgbClr val="FFFFFF"/>
          </a:solidFill>
          <a:ln w="9525">
            <a:solidFill>
              <a:srgbClr val="F0DCCF"/>
            </a:solidFill>
            <a:prstDash val="solid"/>
          </a:ln>
        </p:spPr>
      </p:sp>
      <p:sp>
        <p:nvSpPr>
          <p:cNvPr id="21" name="Text 19"/>
          <p:cNvSpPr txBox="1"/>
          <p:nvPr/>
        </p:nvSpPr>
        <p:spPr>
          <a:xfrm>
            <a:off x="685800" y="4718304"/>
            <a:ext cx="457200" cy="457200"/>
          </a:xfrm>
          <a:prstGeom prst="rect">
            <a:avLst/>
          </a:prstGeom>
          <a:noFill/>
          <a:ln/>
        </p:spPr>
        <p:txBody>
          <a:bodyPr wrap="square" lIns="0" tIns="0" rIns="0" bIns="0" rtlCol="0" anchor="ctr"/>
          <a:lstStyle/>
          <a:p>
            <a:pPr marL="0" indent="0" algn="ctr">
              <a:buNone/>
            </a:pPr>
            <a:r>
              <a:rPr lang="en-US" sz="2200" b="1" dirty="0">
                <a:solidFill>
                  <a:srgbClr val="7A1C3A"/>
                </a:solidFill>
                <a:latin typeface="Cambria" pitchFamily="34" charset="0"/>
                <a:ea typeface="Cambria" pitchFamily="34" charset="-122"/>
                <a:cs typeface="Cambria" pitchFamily="34" charset="-120"/>
              </a:rPr>
              <a:t>5</a:t>
            </a:r>
            <a:endParaRPr lang="en-US" sz="2200" dirty="0"/>
          </a:p>
        </p:txBody>
      </p:sp>
      <p:sp>
        <p:nvSpPr>
          <p:cNvPr id="22" name="Text 20"/>
          <p:cNvSpPr txBox="1"/>
          <p:nvPr/>
        </p:nvSpPr>
        <p:spPr>
          <a:xfrm>
            <a:off x="1234440" y="4672584"/>
            <a:ext cx="6492240" cy="256032"/>
          </a:xfrm>
          <a:prstGeom prst="rect">
            <a:avLst/>
          </a:prstGeom>
          <a:noFill/>
          <a:ln/>
        </p:spPr>
        <p:txBody>
          <a:bodyPr wrap="square" lIns="0" tIns="0" rIns="0" bIns="0" rtlCol="0" anchor="ctr"/>
          <a:lstStyle/>
          <a:p>
            <a:pPr marL="0" indent="0">
              <a:buNone/>
            </a:pPr>
            <a:r>
              <a:rPr lang="en-US" sz="1300" b="1" dirty="0">
                <a:solidFill>
                  <a:srgbClr val="1A0F12"/>
                </a:solidFill>
                <a:latin typeface="Calibri" pitchFamily="34" charset="0"/>
                <a:ea typeface="Calibri" pitchFamily="34" charset="-122"/>
                <a:cs typeface="Calibri" pitchFamily="34" charset="-120"/>
              </a:rPr>
              <a:t>Performance and compliance</a:t>
            </a:r>
            <a:endParaRPr lang="en-US" sz="1300" dirty="0"/>
          </a:p>
        </p:txBody>
      </p:sp>
      <p:sp>
        <p:nvSpPr>
          <p:cNvPr id="23" name="Text 21"/>
          <p:cNvSpPr txBox="1"/>
          <p:nvPr/>
        </p:nvSpPr>
        <p:spPr>
          <a:xfrm>
            <a:off x="1234440" y="4919472"/>
            <a:ext cx="6492240" cy="384048"/>
          </a:xfrm>
          <a:prstGeom prst="rect">
            <a:avLst/>
          </a:prstGeom>
          <a:noFill/>
          <a:ln/>
        </p:spPr>
        <p:txBody>
          <a:bodyPr wrap="square" lIns="0" tIns="0" rIns="0" bIns="0" rtlCol="0" anchor="t"/>
          <a:lstStyle/>
          <a:p>
            <a:pPr marL="0" indent="0">
              <a:buNone/>
            </a:pPr>
            <a:r>
              <a:rPr lang="en-US" sz="980" dirty="0">
                <a:solidFill>
                  <a:srgbClr val="4A4A4A"/>
                </a:solidFill>
                <a:latin typeface="Calibri" pitchFamily="34" charset="0"/>
                <a:ea typeface="Calibri" pitchFamily="34" charset="-122"/>
                <a:cs typeface="Calibri" pitchFamily="34" charset="-120"/>
              </a:rPr>
              <a:t>Server-side pagination and search, streamed chat replies, encryption at rest and in transit, PII minimisation, and a retention and residency policy.</a:t>
            </a:r>
            <a:endParaRPr lang="en-US" sz="980" dirty="0"/>
          </a:p>
        </p:txBody>
      </p:sp>
      <p:sp>
        <p:nvSpPr>
          <p:cNvPr id="24" name="Shape 22"/>
          <p:cNvSpPr/>
          <p:nvPr/>
        </p:nvSpPr>
        <p:spPr>
          <a:xfrm>
            <a:off x="8229600" y="1463040"/>
            <a:ext cx="3429000" cy="4846320"/>
          </a:xfrm>
          <a:prstGeom prst="roundRect">
            <a:avLst>
              <a:gd name="adj" fmla="val 1600"/>
            </a:avLst>
          </a:prstGeom>
          <a:solidFill>
            <a:srgbClr val="7A1C3A"/>
          </a:solidFill>
          <a:ln w="9525">
            <a:solidFill>
              <a:srgbClr val="7A1C3A"/>
            </a:solidFill>
            <a:prstDash val="solid"/>
          </a:ln>
        </p:spPr>
      </p:sp>
      <p:sp>
        <p:nvSpPr>
          <p:cNvPr id="25" name="Text 23"/>
          <p:cNvSpPr txBox="1"/>
          <p:nvPr/>
        </p:nvSpPr>
        <p:spPr>
          <a:xfrm>
            <a:off x="8458200" y="1600200"/>
            <a:ext cx="3017520" cy="292608"/>
          </a:xfrm>
          <a:prstGeom prst="rect">
            <a:avLst/>
          </a:prstGeom>
          <a:noFill/>
          <a:ln/>
        </p:spPr>
        <p:txBody>
          <a:bodyPr wrap="square" lIns="0" tIns="0" rIns="0" bIns="0" rtlCol="0" anchor="ctr"/>
          <a:lstStyle/>
          <a:p>
            <a:pPr marL="0" indent="0">
              <a:buNone/>
            </a:pPr>
            <a:r>
              <a:rPr lang="en-US" sz="1300" b="1" dirty="0">
                <a:solidFill>
                  <a:srgbClr val="F3C7A8"/>
                </a:solidFill>
                <a:latin typeface="Calibri" pitchFamily="34" charset="0"/>
                <a:ea typeface="Calibri" pitchFamily="34" charset="-122"/>
                <a:cs typeface="Calibri" pitchFamily="34" charset="-120"/>
              </a:rPr>
              <a:t>To sum up</a:t>
            </a:r>
            <a:endParaRPr lang="en-US" sz="1300" dirty="0"/>
          </a:p>
        </p:txBody>
      </p:sp>
      <p:sp>
        <p:nvSpPr>
          <p:cNvPr id="26" name="Text 24"/>
          <p:cNvSpPr txBox="1"/>
          <p:nvPr/>
        </p:nvSpPr>
        <p:spPr>
          <a:xfrm>
            <a:off x="8458200" y="1920240"/>
            <a:ext cx="3017520" cy="19202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The investigator opens a queue that is already sorted and explained, spends one glance on the twenty-eight cases that are nothing, and spends real attention on the fourteen that need it. Every decision is theirs, and every decision is written down next to the evidence.</a:t>
            </a:r>
            <a:endParaRPr lang="en-US" sz="1200" dirty="0"/>
          </a:p>
        </p:txBody>
      </p:sp>
      <p:sp>
        <p:nvSpPr>
          <p:cNvPr id="27" name="Text 25"/>
          <p:cNvSpPr txBox="1"/>
          <p:nvPr/>
        </p:nvSpPr>
        <p:spPr>
          <a:xfrm>
            <a:off x="8458200" y="3931920"/>
            <a:ext cx="3017520" cy="292608"/>
          </a:xfrm>
          <a:prstGeom prst="rect">
            <a:avLst/>
          </a:prstGeom>
          <a:noFill/>
          <a:ln/>
        </p:spPr>
        <p:txBody>
          <a:bodyPr wrap="square" lIns="0" tIns="0" rIns="0" bIns="0" rtlCol="0" anchor="ctr"/>
          <a:lstStyle/>
          <a:p>
            <a:pPr marL="0" indent="0">
              <a:buNone/>
            </a:pPr>
            <a:r>
              <a:rPr lang="en-US" sz="1200" b="1" dirty="0">
                <a:solidFill>
                  <a:srgbClr val="F3C7A8"/>
                </a:solidFill>
                <a:latin typeface="Calibri" pitchFamily="34" charset="0"/>
                <a:ea typeface="Calibri" pitchFamily="34" charset="-122"/>
                <a:cs typeface="Calibri" pitchFamily="34" charset="-120"/>
              </a:rPr>
              <a:t>Three things I would defend</a:t>
            </a:r>
            <a:endParaRPr lang="en-US" sz="1200" dirty="0"/>
          </a:p>
        </p:txBody>
      </p:sp>
      <p:sp>
        <p:nvSpPr>
          <p:cNvPr id="28" name="Text 26"/>
          <p:cNvSpPr txBox="1"/>
          <p:nvPr/>
        </p:nvSpPr>
        <p:spPr>
          <a:xfrm>
            <a:off x="8412480" y="4251960"/>
            <a:ext cx="3108960" cy="1371600"/>
          </a:xfrm>
          <a:prstGeom prst="rect">
            <a:avLst/>
          </a:prstGeom>
          <a:noFill/>
          <a:ln/>
        </p:spPr>
        <p:txBody>
          <a:bodyPr wrap="square" lIns="25400" tIns="25400" rIns="25400" bIns="25400" rtlCol="0" anchor="t"/>
          <a:lstStyle/>
          <a:p>
            <a:pPr marL="152400" indent="-1524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Confidence and evidence are outputs, not afterthoughts</a:t>
            </a:r>
            <a:endParaRPr lang="en-US" sz="1100" dirty="0"/>
          </a:p>
          <a:p>
            <a:pPr marL="152400" indent="-1524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Only a person can change a case's status</a:t>
            </a:r>
            <a:endParaRPr lang="en-US" sz="1100" dirty="0"/>
          </a:p>
          <a:p>
            <a:pPr marL="152400" indent="-1524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One narrow path, finished properly</a:t>
            </a:r>
            <a:endParaRPr lang="en-US" sz="1100" dirty="0"/>
          </a:p>
        </p:txBody>
      </p:sp>
      <p:sp>
        <p:nvSpPr>
          <p:cNvPr id="29" name="Text 27"/>
          <p:cNvSpPr txBox="1"/>
          <p:nvPr/>
        </p:nvSpPr>
        <p:spPr>
          <a:xfrm>
            <a:off x="8458200" y="5715000"/>
            <a:ext cx="3017520" cy="548640"/>
          </a:xfrm>
          <a:prstGeom prst="rect">
            <a:avLst/>
          </a:prstGeom>
          <a:noFill/>
          <a:ln/>
        </p:spPr>
        <p:txBody>
          <a:bodyPr wrap="square" lIns="0" tIns="0" rIns="0" bIns="0" rtlCol="0" anchor="t"/>
          <a:lstStyle/>
          <a:p>
            <a:pPr marL="0" indent="0">
              <a:buNone/>
            </a:pPr>
            <a:r>
              <a:rPr lang="en-US" sz="1050" dirty="0">
                <a:solidFill>
                  <a:srgbClr val="E7C9B8"/>
                </a:solidFill>
                <a:latin typeface="Calibri" pitchFamily="34" charset="0"/>
                <a:ea typeface="Calibri" pitchFamily="34" charset="-122"/>
                <a:cs typeface="Calibri" pitchFamily="34" charset="-120"/>
              </a:rPr>
              <a:t>Repo, README with run steps, and the write-up are in the submission. Thank you.</a:t>
            </a:r>
            <a:endParaRPr lang="en-US" sz="1050" dirty="0"/>
          </a:p>
        </p:txBody>
      </p:sp>
      <p:sp>
        <p:nvSpPr>
          <p:cNvPr id="30" name="Text 28"/>
          <p:cNvSpPr txBox="1"/>
          <p:nvPr/>
        </p:nvSpPr>
        <p:spPr>
          <a:xfrm>
            <a:off x="548640" y="6446520"/>
            <a:ext cx="11064240" cy="274320"/>
          </a:xfrm>
          <a:prstGeom prst="rect">
            <a:avLst/>
          </a:prstGeom>
          <a:noFill/>
          <a:ln/>
        </p:spPr>
        <p:txBody>
          <a:bodyPr wrap="square" lIns="0" tIns="0" rIns="0" bIns="0" rtlCol="0" anchor="ctr"/>
          <a:lstStyle/>
          <a:p>
            <a:pPr marL="0" indent="0" algn="r">
              <a:buNone/>
            </a:pPr>
            <a:r>
              <a:rPr lang="en-US" sz="900" dirty="0">
                <a:solidFill>
                  <a:srgbClr val="7A6A6E"/>
                </a:solidFill>
                <a:latin typeface="Calibri" pitchFamily="34" charset="0"/>
                <a:ea typeface="Calibri" pitchFamily="34" charset="-122"/>
                <a:cs typeface="Calibri" pitchFamily="34" charset="-120"/>
              </a:rPr>
              <a:t>Vraj Patel   |   SIU Fraud Investigation   |   6 of 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3059</Words>
  <Application>Microsoft Office PowerPoint</Application>
  <PresentationFormat>Widescreen</PresentationFormat>
  <Paragraphs>131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SIU Fraud Investigation</dc:title>
  <dc:subject>PptxGenJS Presentation</dc:subject>
  <dc:creator>Vraj Patel</dc:creator>
  <cp:lastModifiedBy>Vraj Patel</cp:lastModifiedBy>
  <cp:revision>2</cp:revision>
  <dcterms:created xsi:type="dcterms:W3CDTF">2026-09-06T21:57:02Z</dcterms:created>
  <dcterms:modified xsi:type="dcterms:W3CDTF">2026-09-07T03:01:17Z</dcterms:modified>
</cp:coreProperties>
</file>